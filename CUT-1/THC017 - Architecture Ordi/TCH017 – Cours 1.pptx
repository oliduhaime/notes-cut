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30"/>
  </p:notesMasterIdLst>
  <p:sldIdLst>
    <p:sldId id="256" r:id="rId2"/>
    <p:sldId id="260" r:id="rId3"/>
    <p:sldId id="265" r:id="rId4"/>
    <p:sldId id="266" r:id="rId5"/>
    <p:sldId id="262" r:id="rId6"/>
    <p:sldId id="261" r:id="rId7"/>
    <p:sldId id="268" r:id="rId8"/>
    <p:sldId id="269" r:id="rId9"/>
    <p:sldId id="300" r:id="rId10"/>
    <p:sldId id="295" r:id="rId11"/>
    <p:sldId id="297" r:id="rId12"/>
    <p:sldId id="270" r:id="rId13"/>
    <p:sldId id="271" r:id="rId14"/>
    <p:sldId id="272" r:id="rId15"/>
    <p:sldId id="274" r:id="rId16"/>
    <p:sldId id="273" r:id="rId17"/>
    <p:sldId id="286" r:id="rId18"/>
    <p:sldId id="284" r:id="rId19"/>
    <p:sldId id="279" r:id="rId20"/>
    <p:sldId id="293" r:id="rId21"/>
    <p:sldId id="285" r:id="rId22"/>
    <p:sldId id="289" r:id="rId23"/>
    <p:sldId id="290" r:id="rId24"/>
    <p:sldId id="281" r:id="rId25"/>
    <p:sldId id="294" r:id="rId26"/>
    <p:sldId id="291" r:id="rId27"/>
    <p:sldId id="299" r:id="rId28"/>
    <p:sldId id="282" r:id="rId29"/>
  </p:sldIdLst>
  <p:sldSz cx="12192000" cy="6858000"/>
  <p:notesSz cx="6858000" cy="9144000"/>
  <p:defaultTextStyle>
    <a:defPPr>
      <a:defRPr lang="fr-C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6773CF-901C-5C53-E064-61FE93AE379B}" name="Iannick Gagnon" initials="IG" userId="3cc6b261e68d47f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78D855-5A90-4133-8455-BDCAA0D0656A}" v="3" dt="2026-09-02T13:41:44.8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6" autoAdjust="0"/>
    <p:restoredTop sz="86275" autoAdjust="0"/>
  </p:normalViewPr>
  <p:slideViewPr>
    <p:cSldViewPr snapToGrid="0">
      <p:cViewPr varScale="1">
        <p:scale>
          <a:sx n="71" d="100"/>
          <a:sy n="71" d="100"/>
        </p:scale>
        <p:origin x="48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Duhaime-Plante" userId="0b1b499756fd97c4" providerId="LiveId" clId="{62BB57AF-0D26-495B-8336-03E57C90D09B}"/>
    <pc:docChg chg="undo custSel modSld">
      <pc:chgData name="Olivier Duhaime-Plante" userId="0b1b499756fd97c4" providerId="LiveId" clId="{62BB57AF-0D26-495B-8336-03E57C90D09B}" dt="2026-09-02T13:41:44.826" v="3616" actId="122"/>
      <pc:docMkLst>
        <pc:docMk/>
      </pc:docMkLst>
      <pc:sldChg chg="modNotesTx">
        <pc:chgData name="Olivier Duhaime-Plante" userId="0b1b499756fd97c4" providerId="LiveId" clId="{62BB57AF-0D26-495B-8336-03E57C90D09B}" dt="2026-08-31T13:45:08.612" v="540" actId="20577"/>
        <pc:sldMkLst>
          <pc:docMk/>
          <pc:sldMk cId="3503984240" sldId="261"/>
        </pc:sldMkLst>
      </pc:sldChg>
      <pc:sldChg chg="modNotesTx">
        <pc:chgData name="Olivier Duhaime-Plante" userId="0b1b499756fd97c4" providerId="LiveId" clId="{62BB57AF-0D26-495B-8336-03E57C90D09B}" dt="2026-08-31T13:43:22.770" v="297" actId="20577"/>
        <pc:sldMkLst>
          <pc:docMk/>
          <pc:sldMk cId="2802131359" sldId="262"/>
        </pc:sldMkLst>
      </pc:sldChg>
      <pc:sldChg chg="modNotesTx">
        <pc:chgData name="Olivier Duhaime-Plante" userId="0b1b499756fd97c4" providerId="LiveId" clId="{62BB57AF-0D26-495B-8336-03E57C90D09B}" dt="2026-08-31T13:41:35.730" v="247" actId="20577"/>
        <pc:sldMkLst>
          <pc:docMk/>
          <pc:sldMk cId="30482735" sldId="265"/>
        </pc:sldMkLst>
      </pc:sldChg>
      <pc:sldChg chg="modNotesTx">
        <pc:chgData name="Olivier Duhaime-Plante" userId="0b1b499756fd97c4" providerId="LiveId" clId="{62BB57AF-0D26-495B-8336-03E57C90D09B}" dt="2026-08-31T13:47:08.288" v="658" actId="20577"/>
        <pc:sldMkLst>
          <pc:docMk/>
          <pc:sldMk cId="4071201429" sldId="268"/>
        </pc:sldMkLst>
      </pc:sldChg>
      <pc:sldChg chg="modNotesTx">
        <pc:chgData name="Olivier Duhaime-Plante" userId="0b1b499756fd97c4" providerId="LiveId" clId="{62BB57AF-0D26-495B-8336-03E57C90D09B}" dt="2026-08-31T13:48:22.705" v="771" actId="20577"/>
        <pc:sldMkLst>
          <pc:docMk/>
          <pc:sldMk cId="2725973474" sldId="269"/>
        </pc:sldMkLst>
      </pc:sldChg>
      <pc:sldChg chg="modNotesTx">
        <pc:chgData name="Olivier Duhaime-Plante" userId="0b1b499756fd97c4" providerId="LiveId" clId="{62BB57AF-0D26-495B-8336-03E57C90D09B}" dt="2026-08-31T13:59:11.623" v="1214" actId="20577"/>
        <pc:sldMkLst>
          <pc:docMk/>
          <pc:sldMk cId="292311407" sldId="270"/>
        </pc:sldMkLst>
      </pc:sldChg>
      <pc:sldChg chg="modNotesTx">
        <pc:chgData name="Olivier Duhaime-Plante" userId="0b1b499756fd97c4" providerId="LiveId" clId="{62BB57AF-0D26-495B-8336-03E57C90D09B}" dt="2026-08-31T14:01:00.216" v="1367" actId="20577"/>
        <pc:sldMkLst>
          <pc:docMk/>
          <pc:sldMk cId="682361021" sldId="271"/>
        </pc:sldMkLst>
      </pc:sldChg>
      <pc:sldChg chg="modNotesTx">
        <pc:chgData name="Olivier Duhaime-Plante" userId="0b1b499756fd97c4" providerId="LiveId" clId="{62BB57AF-0D26-495B-8336-03E57C90D09B}" dt="2026-08-31T14:03:23.321" v="1438" actId="20577"/>
        <pc:sldMkLst>
          <pc:docMk/>
          <pc:sldMk cId="900390166" sldId="272"/>
        </pc:sldMkLst>
      </pc:sldChg>
      <pc:sldChg chg="modNotesTx">
        <pc:chgData name="Olivier Duhaime-Plante" userId="0b1b499756fd97c4" providerId="LiveId" clId="{62BB57AF-0D26-495B-8336-03E57C90D09B}" dt="2026-08-31T14:20:45.133" v="1531" actId="20577"/>
        <pc:sldMkLst>
          <pc:docMk/>
          <pc:sldMk cId="2638858167" sldId="273"/>
        </pc:sldMkLst>
      </pc:sldChg>
      <pc:sldChg chg="modNotesTx">
        <pc:chgData name="Olivier Duhaime-Plante" userId="0b1b499756fd97c4" providerId="LiveId" clId="{62BB57AF-0D26-495B-8336-03E57C90D09B}" dt="2026-08-31T14:49:40.275" v="1834" actId="20577"/>
        <pc:sldMkLst>
          <pc:docMk/>
          <pc:sldMk cId="818609652" sldId="279"/>
        </pc:sldMkLst>
      </pc:sldChg>
      <pc:sldChg chg="modNotesTx">
        <pc:chgData name="Olivier Duhaime-Plante" userId="0b1b499756fd97c4" providerId="LiveId" clId="{62BB57AF-0D26-495B-8336-03E57C90D09B}" dt="2026-08-31T15:06:39.738" v="2987" actId="20577"/>
        <pc:sldMkLst>
          <pc:docMk/>
          <pc:sldMk cId="81635227" sldId="281"/>
        </pc:sldMkLst>
      </pc:sldChg>
      <pc:sldChg chg="modNotesTx">
        <pc:chgData name="Olivier Duhaime-Plante" userId="0b1b499756fd97c4" providerId="LiveId" clId="{62BB57AF-0D26-495B-8336-03E57C90D09B}" dt="2026-08-31T15:14:38.739" v="3615" actId="20577"/>
        <pc:sldMkLst>
          <pc:docMk/>
          <pc:sldMk cId="1351514179" sldId="282"/>
        </pc:sldMkLst>
      </pc:sldChg>
      <pc:sldChg chg="modNotesTx">
        <pc:chgData name="Olivier Duhaime-Plante" userId="0b1b499756fd97c4" providerId="LiveId" clId="{62BB57AF-0D26-495B-8336-03E57C90D09B}" dt="2026-08-31T14:58:42.694" v="2209" actId="20577"/>
        <pc:sldMkLst>
          <pc:docMk/>
          <pc:sldMk cId="495497118" sldId="285"/>
        </pc:sldMkLst>
      </pc:sldChg>
      <pc:sldChg chg="modNotesTx">
        <pc:chgData name="Olivier Duhaime-Plante" userId="0b1b499756fd97c4" providerId="LiveId" clId="{62BB57AF-0D26-495B-8336-03E57C90D09B}" dt="2026-08-31T14:22:03.647" v="1582" actId="20577"/>
        <pc:sldMkLst>
          <pc:docMk/>
          <pc:sldMk cId="2607798322" sldId="286"/>
        </pc:sldMkLst>
      </pc:sldChg>
      <pc:sldChg chg="modSp modNotesTx">
        <pc:chgData name="Olivier Duhaime-Plante" userId="0b1b499756fd97c4" providerId="LiveId" clId="{62BB57AF-0D26-495B-8336-03E57C90D09B}" dt="2026-09-02T13:41:44.826" v="3616" actId="122"/>
        <pc:sldMkLst>
          <pc:docMk/>
          <pc:sldMk cId="856093451" sldId="289"/>
        </pc:sldMkLst>
        <pc:spChg chg="mod">
          <ac:chgData name="Olivier Duhaime-Plante" userId="0b1b499756fd97c4" providerId="LiveId" clId="{62BB57AF-0D26-495B-8336-03E57C90D09B}" dt="2026-09-02T13:41:44.826" v="3616" actId="122"/>
          <ac:spMkLst>
            <pc:docMk/>
            <pc:sldMk cId="856093451" sldId="289"/>
            <ac:spMk id="3" creationId="{224E58D4-6245-F2C5-8CBA-CEED2BBF9BD5}"/>
          </ac:spMkLst>
        </pc:spChg>
      </pc:sldChg>
      <pc:sldChg chg="modNotesTx">
        <pc:chgData name="Olivier Duhaime-Plante" userId="0b1b499756fd97c4" providerId="LiveId" clId="{62BB57AF-0D26-495B-8336-03E57C90D09B}" dt="2026-08-31T15:05:41.255" v="2827" actId="20577"/>
        <pc:sldMkLst>
          <pc:docMk/>
          <pc:sldMk cId="2611165556" sldId="290"/>
        </pc:sldMkLst>
      </pc:sldChg>
      <pc:sldChg chg="modSp mod modNotesTx">
        <pc:chgData name="Olivier Duhaime-Plante" userId="0b1b499756fd97c4" providerId="LiveId" clId="{62BB57AF-0D26-495B-8336-03E57C90D09B}" dt="2026-08-31T15:09:49.198" v="3183" actId="20577"/>
        <pc:sldMkLst>
          <pc:docMk/>
          <pc:sldMk cId="2878292187" sldId="291"/>
        </pc:sldMkLst>
        <pc:spChg chg="mod">
          <ac:chgData name="Olivier Duhaime-Plante" userId="0b1b499756fd97c4" providerId="LiveId" clId="{62BB57AF-0D26-495B-8336-03E57C90D09B}" dt="2026-08-31T15:08:46.984" v="3065" actId="20577"/>
          <ac:spMkLst>
            <pc:docMk/>
            <pc:sldMk cId="2878292187" sldId="291"/>
            <ac:spMk id="3" creationId="{224E58D4-6245-F2C5-8CBA-CEED2BBF9BD5}"/>
          </ac:spMkLst>
        </pc:spChg>
      </pc:sldChg>
      <pc:sldChg chg="modNotesTx">
        <pc:chgData name="Olivier Duhaime-Plante" userId="0b1b499756fd97c4" providerId="LiveId" clId="{62BB57AF-0D26-495B-8336-03E57C90D09B}" dt="2026-08-31T14:50:16.320" v="1914" actId="20577"/>
        <pc:sldMkLst>
          <pc:docMk/>
          <pc:sldMk cId="4141237680" sldId="293"/>
        </pc:sldMkLst>
      </pc:sldChg>
      <pc:sldChg chg="modNotesTx">
        <pc:chgData name="Olivier Duhaime-Plante" userId="0b1b499756fd97c4" providerId="LiveId" clId="{62BB57AF-0D26-495B-8336-03E57C90D09B}" dt="2026-08-31T15:07:00.039" v="3059" actId="20577"/>
        <pc:sldMkLst>
          <pc:docMk/>
          <pc:sldMk cId="2233835772" sldId="294"/>
        </pc:sldMkLst>
      </pc:sldChg>
      <pc:sldChg chg="modNotesTx">
        <pc:chgData name="Olivier Duhaime-Plante" userId="0b1b499756fd97c4" providerId="LiveId" clId="{62BB57AF-0D26-495B-8336-03E57C90D09B}" dt="2026-08-31T13:56:21.115" v="1023" actId="20577"/>
        <pc:sldMkLst>
          <pc:docMk/>
          <pc:sldMk cId="2782003222" sldId="295"/>
        </pc:sldMkLst>
      </pc:sldChg>
      <pc:sldChg chg="modNotesTx">
        <pc:chgData name="Olivier Duhaime-Plante" userId="0b1b499756fd97c4" providerId="LiveId" clId="{62BB57AF-0D26-495B-8336-03E57C90D09B}" dt="2026-08-31T15:11:55.703" v="3347" actId="20577"/>
        <pc:sldMkLst>
          <pc:docMk/>
          <pc:sldMk cId="1506637396" sldId="299"/>
        </pc:sldMkLst>
      </pc:sldChg>
      <pc:sldChg chg="modNotesTx">
        <pc:chgData name="Olivier Duhaime-Plante" userId="0b1b499756fd97c4" providerId="LiveId" clId="{62BB57AF-0D26-495B-8336-03E57C90D09B}" dt="2026-08-31T13:52:08.760" v="835" actId="20577"/>
        <pc:sldMkLst>
          <pc:docMk/>
          <pc:sldMk cId="3748827585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2C025-C46E-499D-889E-7A916C88DFEE}" type="datetimeFigureOut">
              <a:rPr lang="fr-CA" smtClean="0"/>
              <a:t>2026-09-02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Click to edit Master text styles</a:t>
            </a:r>
          </a:p>
          <a:p>
            <a:pPr lvl="1"/>
            <a:r>
              <a:rPr lang="fr-CA"/>
              <a:t>Second level</a:t>
            </a:r>
          </a:p>
          <a:p>
            <a:pPr lvl="2"/>
            <a:r>
              <a:rPr lang="fr-CA"/>
              <a:t>Third level</a:t>
            </a:r>
          </a:p>
          <a:p>
            <a:pPr lvl="3"/>
            <a:r>
              <a:rPr lang="fr-CA"/>
              <a:t>Fourth level</a:t>
            </a:r>
          </a:p>
          <a:p>
            <a:pPr lvl="4"/>
            <a:r>
              <a:rPr lang="fr-CA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F164B2-BFF0-4DA4-8D1B-8FB332668C0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59702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b="1" dirty="0"/>
              <a:t>Plan de cours: </a:t>
            </a:r>
          </a:p>
          <a:p>
            <a:r>
              <a:rPr lang="fr-CA" dirty="0"/>
              <a:t>Tout les exams / quiz sont récapitulatifs --­&gt; faits sur enaquiz.etsmtl.ca et </a:t>
            </a:r>
            <a:r>
              <a:rPr lang="fr-CA" dirty="0" err="1"/>
              <a:t>safe</a:t>
            </a:r>
            <a:r>
              <a:rPr lang="fr-CA" dirty="0"/>
              <a:t> exam browser</a:t>
            </a:r>
          </a:p>
          <a:p>
            <a:r>
              <a:rPr lang="fr-CA" dirty="0"/>
              <a:t>Rien a faire a la maison --­­&gt; participer aux </a:t>
            </a:r>
            <a:r>
              <a:rPr lang="fr-CA" dirty="0" err="1"/>
              <a:t>labs</a:t>
            </a:r>
            <a:endParaRPr lang="fr-CA" dirty="0"/>
          </a:p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27701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b="1" dirty="0"/>
              <a:t>Abstraction</a:t>
            </a:r>
            <a:r>
              <a:rPr lang="fr-CA" dirty="0"/>
              <a:t>: masque les détails techniques complexes d'un système pour n'en présenter que l'utilisation simplifiée (conduire une voiture en utilisant les pédales sans avoir à comprendre le moteur)</a:t>
            </a:r>
          </a:p>
          <a:p>
            <a:r>
              <a:rPr lang="fr-CA" dirty="0"/>
              <a:t>	Assembleur: peu d’abstraction (presque </a:t>
            </a:r>
            <a:r>
              <a:rPr lang="fr-CA" dirty="0" err="1"/>
              <a:t>bare-metal</a:t>
            </a:r>
            <a:r>
              <a:rPr lang="fr-CA" dirty="0"/>
              <a:t>) Python: bcp abstraction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01613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b="1" dirty="0"/>
              <a:t>C’est quoi un ordi:</a:t>
            </a:r>
            <a:endParaRPr lang="fr-CA" dirty="0"/>
          </a:p>
          <a:p>
            <a:pPr marL="171450" indent="-171450">
              <a:buFontTx/>
              <a:buChar char="-"/>
            </a:pPr>
            <a:r>
              <a:rPr lang="fr-CA" dirty="0"/>
              <a:t>Lire</a:t>
            </a:r>
          </a:p>
          <a:p>
            <a:pPr marL="171450" indent="-171450">
              <a:buFontTx/>
              <a:buChar char="-"/>
            </a:pPr>
            <a:r>
              <a:rPr lang="fr-CA" dirty="0"/>
              <a:t>Écrire</a:t>
            </a:r>
          </a:p>
          <a:p>
            <a:pPr marL="171450" indent="-171450">
              <a:buFontTx/>
              <a:buChar char="-"/>
            </a:pPr>
            <a:r>
              <a:rPr lang="fr-CA" dirty="0"/>
              <a:t>Modifier</a:t>
            </a:r>
          </a:p>
          <a:p>
            <a:pPr marL="628650" lvl="1" indent="-171450">
              <a:buFontTx/>
              <a:buChar char="-"/>
            </a:pPr>
            <a:r>
              <a:rPr lang="fr-CA" dirty="0"/>
              <a:t>Opérations (or, and, +, -, </a:t>
            </a:r>
            <a:r>
              <a:rPr lang="fr-CA" dirty="0" err="1"/>
              <a:t>load</a:t>
            </a:r>
            <a:r>
              <a:rPr lang="fr-CA" dirty="0"/>
              <a:t>, </a:t>
            </a:r>
            <a:r>
              <a:rPr lang="fr-CA" dirty="0" err="1"/>
              <a:t>etc</a:t>
            </a:r>
            <a:r>
              <a:rPr lang="fr-CA" dirty="0"/>
              <a:t>)</a:t>
            </a:r>
          </a:p>
          <a:p>
            <a:pPr marL="171450" lvl="0" indent="-171450">
              <a:buFontTx/>
              <a:buChar char="-"/>
            </a:pPr>
            <a:r>
              <a:rPr lang="fr-CA" dirty="0"/>
              <a:t>Programmable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84413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Précisions:</a:t>
            </a:r>
          </a:p>
          <a:p>
            <a:r>
              <a:rPr lang="fr-CA" dirty="0"/>
              <a:t>- calculs: pas nécessairement + - 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69476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DEVONS CONNAITRE LA DÉFINITION:</a:t>
            </a:r>
          </a:p>
          <a:p>
            <a:r>
              <a:rPr lang="fr-CA" dirty="0"/>
              <a:t>1.</a:t>
            </a:r>
          </a:p>
          <a:p>
            <a:r>
              <a:rPr lang="fr-CA" dirty="0"/>
              <a:t>2. Son, écran</a:t>
            </a:r>
          </a:p>
          <a:p>
            <a:r>
              <a:rPr lang="fr-CA" dirty="0"/>
              <a:t>3. Mémoire vive, </a:t>
            </a:r>
            <a:r>
              <a:rPr lang="fr-CA" dirty="0" err="1"/>
              <a:t>ssd</a:t>
            </a:r>
            <a:r>
              <a:rPr lang="fr-CA" dirty="0"/>
              <a:t>, </a:t>
            </a:r>
            <a:r>
              <a:rPr lang="fr-CA" dirty="0" err="1"/>
              <a:t>hdd</a:t>
            </a:r>
            <a:endParaRPr lang="fr-CA" dirty="0"/>
          </a:p>
          <a:p>
            <a:r>
              <a:rPr lang="fr-CA" dirty="0"/>
              <a:t>4. Voir opérations slide 3, chercher données / instructions et va les envoyer dans 5.</a:t>
            </a:r>
          </a:p>
          <a:p>
            <a:r>
              <a:rPr lang="fr-CA" dirty="0"/>
              <a:t>5. Opérations </a:t>
            </a:r>
            <a:r>
              <a:rPr lang="fr-CA" dirty="0" err="1"/>
              <a:t>arythmétiques</a:t>
            </a:r>
            <a:r>
              <a:rPr lang="fr-CA" dirty="0"/>
              <a:t> et logiques</a:t>
            </a:r>
          </a:p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7187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Entrée / sorties: périphériques</a:t>
            </a:r>
          </a:p>
          <a:p>
            <a:r>
              <a:rPr lang="fr-CA" dirty="0"/>
              <a:t>Mémoire: différents types</a:t>
            </a:r>
          </a:p>
          <a:p>
            <a:r>
              <a:rPr lang="fr-CA" dirty="0"/>
              <a:t>Données + instructions = résultats</a:t>
            </a:r>
          </a:p>
          <a:p>
            <a:r>
              <a:rPr lang="fr-CA" dirty="0"/>
              <a:t>UCT = processeur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39145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BUS: paquet de fils qui relient les éléments de l’ordi: transporte information, donnés</a:t>
            </a:r>
          </a:p>
          <a:p>
            <a:r>
              <a:rPr lang="fr-CA" dirty="0"/>
              <a:t>e/s = entrée sortie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60596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OS: intermédiaire entre utilisateur et matériel (abstraction)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19569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Manque les connections (BUS) sur le </a:t>
            </a:r>
            <a:r>
              <a:rPr lang="fr-CA" dirty="0" err="1"/>
              <a:t>mobo</a:t>
            </a:r>
            <a:endParaRPr lang="fr-CA" dirty="0"/>
          </a:p>
          <a:p>
            <a:r>
              <a:rPr lang="fr-CA" dirty="0"/>
              <a:t>BIOS: premières instructions lorsque tu allumes ton ordi pour « </a:t>
            </a:r>
            <a:r>
              <a:rPr lang="fr-CA" dirty="0" err="1"/>
              <a:t>kickstart</a:t>
            </a:r>
            <a:r>
              <a:rPr lang="fr-CA" dirty="0"/>
              <a:t> » ton os</a:t>
            </a:r>
            <a:br>
              <a:rPr lang="fr-CA" dirty="0"/>
            </a:br>
            <a:r>
              <a:rPr lang="fr-CA" dirty="0"/>
              <a:t>SAVOIR CMOS: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70905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84589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Information: données / instruction</a:t>
            </a:r>
          </a:p>
          <a:p>
            <a:r>
              <a:rPr lang="fr-CA" dirty="0"/>
              <a:t>Bus extension: </a:t>
            </a:r>
            <a:r>
              <a:rPr lang="fr-CA" dirty="0" err="1"/>
              <a:t>gpu</a:t>
            </a:r>
            <a:r>
              <a:rPr lang="fr-CA" dirty="0"/>
              <a:t> ou tt extension (m.2) </a:t>
            </a:r>
            <a:r>
              <a:rPr lang="fr-CA" dirty="0" err="1"/>
              <a:t>pcie</a:t>
            </a:r>
            <a:endParaRPr lang="fr-CA" dirty="0"/>
          </a:p>
          <a:p>
            <a:endParaRPr lang="fr-CA" dirty="0"/>
          </a:p>
          <a:p>
            <a:r>
              <a:rPr lang="fr-CA" dirty="0"/>
              <a:t>Adresses: endroit ou se trouve une information: 01 qui constituent une commande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44310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Doit connaitre </a:t>
            </a:r>
            <a:r>
              <a:rPr lang="fr-CA" dirty="0" err="1"/>
              <a:t>equations</a:t>
            </a:r>
            <a:r>
              <a:rPr lang="fr-CA" dirty="0"/>
              <a:t> pour quiz et savoir ce que les données valent</a:t>
            </a:r>
          </a:p>
          <a:p>
            <a:r>
              <a:rPr lang="fr-CA" dirty="0"/>
              <a:t>Débit(bit/s) = largeur bus (bits) * fréquence (sec^-1)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98880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Qté(bits) / (largeur(bits) * fréquence(sec^-1)) = temps(sec)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09256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412861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Binaire = </a:t>
            </a:r>
            <a:r>
              <a:rPr lang="fr-CA" dirty="0" err="1"/>
              <a:t>dicotomie</a:t>
            </a:r>
            <a:r>
              <a:rPr lang="fr-CA" dirty="0"/>
              <a:t> ouvert/fermé, on/off, 0/1</a:t>
            </a:r>
          </a:p>
          <a:p>
            <a:r>
              <a:rPr lang="fr-CA" dirty="0"/>
              <a:t>Fondamental 1 octet = 8 bits</a:t>
            </a:r>
          </a:p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32987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À savoir pour les calculs base 10 et base 2</a:t>
            </a:r>
          </a:p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54976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723895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Voir schéma 1 notes de cours</a:t>
            </a:r>
          </a:p>
          <a:p>
            <a:r>
              <a:rPr lang="fr-CA" dirty="0"/>
              <a:t>Volatilité: RAM(vidée en fermant ordi) ROM(</a:t>
            </a:r>
            <a:r>
              <a:rPr lang="fr-CA" dirty="0" err="1"/>
              <a:t>read</a:t>
            </a:r>
            <a:r>
              <a:rPr lang="fr-CA" dirty="0"/>
              <a:t> </a:t>
            </a:r>
            <a:r>
              <a:rPr lang="fr-CA" dirty="0" err="1"/>
              <a:t>only</a:t>
            </a:r>
            <a:r>
              <a:rPr lang="fr-CA" dirty="0"/>
              <a:t>, info </a:t>
            </a:r>
            <a:r>
              <a:rPr lang="fr-CA" dirty="0" err="1"/>
              <a:t>critiale</a:t>
            </a:r>
            <a:r>
              <a:rPr lang="fr-CA" dirty="0"/>
              <a:t>)</a:t>
            </a:r>
          </a:p>
          <a:p>
            <a:r>
              <a:rPr lang="fr-CA" dirty="0"/>
              <a:t>4: débit</a:t>
            </a:r>
          </a:p>
          <a:p>
            <a:r>
              <a:rPr lang="fr-CA" dirty="0"/>
              <a:t>SRAM: séquentielle, doit aller 1 – 2– 3 pour chercher 3, tandis que DRAM à un </a:t>
            </a:r>
            <a:r>
              <a:rPr lang="fr-CA" dirty="0" err="1"/>
              <a:t>acces</a:t>
            </a:r>
            <a:r>
              <a:rPr lang="fr-CA" dirty="0"/>
              <a:t> direct</a:t>
            </a:r>
          </a:p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70392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Références : </a:t>
            </a:r>
          </a:p>
          <a:p>
            <a:r>
              <a:rPr lang="fr-CA" dirty="0"/>
              <a:t>    1. https://en.wikipedia.org/wiki/Random-access_memory</a:t>
            </a:r>
          </a:p>
          <a:p>
            <a:r>
              <a:rPr lang="fr-CA" dirty="0"/>
              <a:t>Tout circuit logique peut être représenté par des </a:t>
            </a:r>
            <a:r>
              <a:rPr lang="fr-CA" dirty="0" err="1"/>
              <a:t>gates</a:t>
            </a:r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418694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Références : Bon site web pour savoir </a:t>
            </a:r>
            <a:r>
              <a:rPr lang="fr-CA" dirty="0" err="1"/>
              <a:t>low</a:t>
            </a:r>
            <a:r>
              <a:rPr lang="fr-CA" dirty="0"/>
              <a:t> </a:t>
            </a:r>
            <a:r>
              <a:rPr lang="fr-CA" dirty="0" err="1"/>
              <a:t>level</a:t>
            </a:r>
            <a:endParaRPr lang="fr-CA" dirty="0"/>
          </a:p>
          <a:p>
            <a:r>
              <a:rPr lang="fr-CA" dirty="0"/>
              <a:t>    1. https://runestone.academy/ns/books/published/welcomecs/ComputerArchitecture/MemoryHeirarchy.html</a:t>
            </a:r>
          </a:p>
          <a:p>
            <a:r>
              <a:rPr lang="fr-CA" dirty="0"/>
              <a:t>Largeur pyramide: espace</a:t>
            </a:r>
          </a:p>
          <a:p>
            <a:r>
              <a:rPr lang="fr-CA" dirty="0"/>
              <a:t>Hauteur: prix</a:t>
            </a:r>
          </a:p>
          <a:p>
            <a:r>
              <a:rPr lang="fr-CA" dirty="0"/>
              <a:t>Plus tu es haut, plus tu es près du processeur --­­&gt; plus rapide (</a:t>
            </a:r>
            <a:r>
              <a:rPr lang="fr-CA" dirty="0" err="1"/>
              <a:t>electricité</a:t>
            </a:r>
            <a:r>
              <a:rPr lang="fr-CA" dirty="0"/>
              <a:t> prend moins de temps a circuler)</a:t>
            </a:r>
          </a:p>
          <a:p>
            <a:r>
              <a:rPr lang="fr-CA" dirty="0"/>
              <a:t>Savoir placer les noms dans le tableau de temps d’accès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025907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Vidé lorsque l’ordi est fermé</a:t>
            </a:r>
          </a:p>
          <a:p>
            <a:r>
              <a:rPr lang="fr-CA" dirty="0"/>
              <a:t>Essentiel au fonctionnement de l’ordinateur: coute cher, peut d’espace et volatile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575494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Cache important pour optimisation</a:t>
            </a:r>
          </a:p>
          <a:p>
            <a:r>
              <a:rPr lang="fr-CA" dirty="0"/>
              <a:t>Localité temporelle: info rapprochée dans le temps --&gt; piger dans les registres</a:t>
            </a:r>
          </a:p>
          <a:p>
            <a:r>
              <a:rPr lang="fr-CA" dirty="0"/>
              <a:t>Localité </a:t>
            </a:r>
            <a:r>
              <a:rPr lang="fr-CA" dirty="0" err="1"/>
              <a:t>spaciale</a:t>
            </a:r>
            <a:r>
              <a:rPr lang="fr-CA" dirty="0"/>
              <a:t>: info près l’une de l’autre </a:t>
            </a:r>
            <a:r>
              <a:rPr lang="fr-CA" dirty="0" err="1"/>
              <a:t>srm</a:t>
            </a:r>
            <a:r>
              <a:rPr lang="fr-CA" dirty="0"/>
              <a:t> utilisées ensemble (bien placer info dans mémoire)</a:t>
            </a:r>
          </a:p>
          <a:p>
            <a:endParaRPr lang="fr-CA" dirty="0"/>
          </a:p>
          <a:p>
            <a:r>
              <a:rPr lang="fr-CA" dirty="0"/>
              <a:t>Analogie: si tu cherche info biblio sur calcul, prend le livre de calcul et les livres de chaque côté. Si info pas dans livre milieu, </a:t>
            </a:r>
            <a:r>
              <a:rPr lang="fr-CA" dirty="0" err="1"/>
              <a:t>srm</a:t>
            </a:r>
            <a:r>
              <a:rPr lang="fr-CA" dirty="0"/>
              <a:t> dans les deux livres d’à coté.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957971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À retenir:</a:t>
            </a:r>
          </a:p>
          <a:p>
            <a:r>
              <a:rPr lang="fr-CA" dirty="0"/>
              <a:t>Directement dans carte mère, accès direct à l’adresse sans être séquentiel</a:t>
            </a:r>
          </a:p>
          <a:p>
            <a:r>
              <a:rPr lang="fr-CA" dirty="0"/>
              <a:t>Lire info en rouge et gras</a:t>
            </a:r>
          </a:p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742308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Si tu veux acheter ram, ce que tu dois savoir pour acheter la bonne</a:t>
            </a:r>
          </a:p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460121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Non volatile</a:t>
            </a:r>
          </a:p>
          <a:p>
            <a:r>
              <a:rPr lang="fr-CA" dirty="0"/>
              <a:t>SSD: Imparfait car peut être effacé un certain nombre de fois avant d’être moins efficace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26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019979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PROM, une seule fois,</a:t>
            </a:r>
          </a:p>
          <a:p>
            <a:r>
              <a:rPr lang="fr-CA" dirty="0"/>
              <a:t>EPROM appareil spécial </a:t>
            </a:r>
            <a:r>
              <a:rPr lang="fr-CA" dirty="0" err="1"/>
              <a:t>uv</a:t>
            </a:r>
            <a:endParaRPr lang="fr-CA" dirty="0"/>
          </a:p>
          <a:p>
            <a:r>
              <a:rPr lang="fr-CA" dirty="0"/>
              <a:t>EEPROM</a:t>
            </a:r>
          </a:p>
          <a:p>
            <a:r>
              <a:rPr lang="fr-CA" dirty="0" err="1"/>
              <a:t>Logitiels</a:t>
            </a:r>
            <a:r>
              <a:rPr lang="fr-CA" dirty="0"/>
              <a:t> fondamentaux. Bios, bootloader, </a:t>
            </a:r>
            <a:r>
              <a:rPr lang="fr-CA" dirty="0" err="1"/>
              <a:t>firmwares</a:t>
            </a:r>
            <a:r>
              <a:rPr lang="fr-CA" dirty="0"/>
              <a:t> </a:t>
            </a:r>
            <a:r>
              <a:rPr lang="fr-CA" dirty="0">
                <a:sym typeface="Wingdings" panose="05000000000000000000" pitchFamily="2" charset="2"/>
              </a:rPr>
              <a:t>--&gt; hard-</a:t>
            </a:r>
            <a:r>
              <a:rPr lang="fr-CA" dirty="0" err="1">
                <a:sym typeface="Wingdings" panose="05000000000000000000" pitchFamily="2" charset="2"/>
              </a:rPr>
              <a:t>wired</a:t>
            </a:r>
            <a:r>
              <a:rPr lang="fr-CA" dirty="0">
                <a:sym typeface="Wingdings" panose="05000000000000000000" pitchFamily="2" charset="2"/>
              </a:rPr>
              <a:t> sur ROM</a:t>
            </a:r>
            <a:r>
              <a:rPr lang="fr-CA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27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213848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Von Neumann: mémoire programmes &amp; données dans une même mémoire </a:t>
            </a:r>
            <a:r>
              <a:rPr lang="fr-CA" dirty="0">
                <a:sym typeface="Wingdings" panose="05000000000000000000" pitchFamily="2" charset="2"/>
              </a:rPr>
              <a:t> tout passe dans le même bus  problèmes de coordination</a:t>
            </a:r>
          </a:p>
          <a:p>
            <a:r>
              <a:rPr lang="fr-CA" dirty="0">
                <a:sym typeface="Wingdings" panose="05000000000000000000" pitchFamily="2" charset="2"/>
              </a:rPr>
              <a:t>Harvard: bus distincts et mémoire </a:t>
            </a:r>
            <a:r>
              <a:rPr lang="fr-CA" dirty="0" err="1">
                <a:sym typeface="Wingdings" panose="05000000000000000000" pitchFamily="2" charset="2"/>
              </a:rPr>
              <a:t>séparéé</a:t>
            </a:r>
            <a:r>
              <a:rPr lang="fr-CA" dirty="0">
                <a:sym typeface="Wingdings" panose="05000000000000000000" pitchFamily="2" charset="2"/>
              </a:rPr>
              <a:t>  pas de ralentissements lorsque bcp </a:t>
            </a:r>
            <a:r>
              <a:rPr lang="fr-CA">
                <a:sym typeface="Wingdings" panose="05000000000000000000" pitchFamily="2" charset="2"/>
              </a:rPr>
              <a:t>de données dans bus</a:t>
            </a:r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164B2-BFF0-4DA4-8D1B-8FB332668C07}" type="slidenum">
              <a:rPr lang="fr-CA" smtClean="0"/>
              <a:t>28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87668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fr-CA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Click to edit Master subtitle style</a:t>
            </a:r>
            <a:endParaRPr lang="fr-CA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fr-CA" smtClean="0"/>
              <a:pPr algn="r"/>
              <a:t>2026-09-02</a:t>
            </a:fld>
            <a:endParaRPr lang="fr-CA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fr-CA" smtClean="0"/>
              <a:pPr algn="l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64937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Click to edit Master text styles</a:t>
            </a:r>
          </a:p>
          <a:p>
            <a:pPr lvl="1"/>
            <a:r>
              <a:rPr lang="fr-CA"/>
              <a:t>Second level</a:t>
            </a:r>
          </a:p>
          <a:p>
            <a:pPr lvl="2"/>
            <a:r>
              <a:rPr lang="fr-CA"/>
              <a:t>Third level</a:t>
            </a:r>
          </a:p>
          <a:p>
            <a:pPr lvl="3"/>
            <a:r>
              <a:rPr lang="fr-CA"/>
              <a:t>Fourth level</a:t>
            </a:r>
          </a:p>
          <a:p>
            <a:pPr lvl="4"/>
            <a:r>
              <a:rPr lang="fr-CA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fr-CA" smtClean="0"/>
              <a:pPr algn="r"/>
              <a:t>2026-09-02</a:t>
            </a:fld>
            <a:endParaRPr lang="fr-C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fr-CA" smtClean="0"/>
              <a:pPr algn="l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469985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fr-CA"/>
              <a:t>Click to edit Master title style</a:t>
            </a:r>
            <a:endParaRPr lang="fr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fr-CA" smtClean="0"/>
              <a:pPr algn="r"/>
              <a:t>2026-09-02</a:t>
            </a:fld>
            <a:endParaRPr lang="fr-CA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fr-CA" smtClean="0"/>
              <a:pPr algn="l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41148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fr-CA"/>
              <a:t>Click to edit Master text styles</a:t>
            </a:r>
          </a:p>
          <a:p>
            <a:pPr lvl="1"/>
            <a:r>
              <a:rPr lang="fr-CA"/>
              <a:t>Second level</a:t>
            </a:r>
          </a:p>
          <a:p>
            <a:pPr lvl="2"/>
            <a:r>
              <a:rPr lang="fr-CA"/>
              <a:t>Third level</a:t>
            </a:r>
          </a:p>
          <a:p>
            <a:pPr lvl="3"/>
            <a:r>
              <a:rPr lang="fr-CA"/>
              <a:t>Fourth level</a:t>
            </a:r>
          </a:p>
          <a:p>
            <a:pPr lvl="4"/>
            <a:r>
              <a:rPr lang="fr-CA"/>
              <a:t>Fifth level</a:t>
            </a:r>
            <a:endParaRPr lang="fr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fr-CA"/>
              <a:t>Click to edit Master text styles</a:t>
            </a:r>
          </a:p>
          <a:p>
            <a:pPr lvl="1"/>
            <a:r>
              <a:rPr lang="fr-CA"/>
              <a:t>Second level</a:t>
            </a:r>
          </a:p>
          <a:p>
            <a:pPr lvl="2"/>
            <a:r>
              <a:rPr lang="fr-CA"/>
              <a:t>Third level</a:t>
            </a:r>
          </a:p>
          <a:p>
            <a:pPr lvl="3"/>
            <a:r>
              <a:rPr lang="fr-CA"/>
              <a:t>Fourth level</a:t>
            </a:r>
          </a:p>
          <a:p>
            <a:pPr lvl="4"/>
            <a:r>
              <a:rPr lang="fr-CA"/>
              <a:t>Fifth level</a:t>
            </a:r>
            <a:endParaRPr lang="fr-CA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fr-CA" smtClean="0"/>
              <a:pPr algn="r"/>
              <a:t>2026-09-02</a:t>
            </a:fld>
            <a:endParaRPr lang="fr-CA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fr-CA" smtClean="0"/>
              <a:pPr algn="l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772680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fr-CA"/>
              <a:t>Click to edit Master text styles</a:t>
            </a:r>
          </a:p>
          <a:p>
            <a:pPr lvl="1"/>
            <a:r>
              <a:rPr lang="fr-CA"/>
              <a:t>Second level</a:t>
            </a:r>
          </a:p>
          <a:p>
            <a:pPr lvl="2"/>
            <a:r>
              <a:rPr lang="fr-CA"/>
              <a:t>Third level</a:t>
            </a:r>
          </a:p>
          <a:p>
            <a:pPr lvl="3"/>
            <a:r>
              <a:rPr lang="fr-CA"/>
              <a:t>Fourth level</a:t>
            </a:r>
          </a:p>
          <a:p>
            <a:pPr lvl="4"/>
            <a:r>
              <a:rPr lang="fr-CA"/>
              <a:t>Fifth level</a:t>
            </a:r>
            <a:endParaRPr lang="fr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fr-CA"/>
              <a:t>Click to edit Master text styles</a:t>
            </a:r>
          </a:p>
          <a:p>
            <a:pPr lvl="1"/>
            <a:r>
              <a:rPr lang="fr-CA"/>
              <a:t>Second level</a:t>
            </a:r>
          </a:p>
          <a:p>
            <a:pPr lvl="2"/>
            <a:r>
              <a:rPr lang="fr-CA"/>
              <a:t>Third level</a:t>
            </a:r>
          </a:p>
          <a:p>
            <a:pPr lvl="3"/>
            <a:r>
              <a:rPr lang="fr-CA"/>
              <a:t>Fourth level</a:t>
            </a:r>
          </a:p>
          <a:p>
            <a:pPr lvl="4"/>
            <a:r>
              <a:rPr lang="fr-CA"/>
              <a:t>Fifth level</a:t>
            </a:r>
            <a:endParaRPr lang="fr-CA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fr-CA" smtClean="0"/>
              <a:pPr algn="r"/>
              <a:t>2026-09-02</a:t>
            </a:fld>
            <a:endParaRPr lang="fr-CA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fr-CA" smtClean="0"/>
              <a:pPr algn="l"/>
              <a:t>‹N°›</a:t>
            </a:fld>
            <a:endParaRPr lang="fr-CA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27206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fr-CA" smtClean="0"/>
              <a:pPr algn="r"/>
              <a:t>2026-09-02</a:t>
            </a:fld>
            <a:endParaRPr lang="fr-CA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fr-CA" smtClean="0"/>
              <a:pPr algn="l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40965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fr-CA" smtClean="0"/>
              <a:pPr algn="r"/>
              <a:t>2026-09-02</a:t>
            </a:fld>
            <a:endParaRPr lang="fr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fr-CA" smtClean="0"/>
              <a:pPr algn="l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631364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Click to edit Master text styles</a:t>
            </a:r>
          </a:p>
          <a:p>
            <a:pPr lvl="1"/>
            <a:r>
              <a:rPr lang="fr-CA"/>
              <a:t>Second level</a:t>
            </a:r>
          </a:p>
          <a:p>
            <a:pPr lvl="2"/>
            <a:r>
              <a:rPr lang="fr-CA"/>
              <a:t>Third level</a:t>
            </a:r>
          </a:p>
          <a:p>
            <a:pPr lvl="3"/>
            <a:r>
              <a:rPr lang="fr-CA"/>
              <a:t>Fourth level</a:t>
            </a:r>
          </a:p>
          <a:p>
            <a:pPr lvl="4"/>
            <a:r>
              <a:rPr lang="fr-CA"/>
              <a:t>Fifth level</a:t>
            </a:r>
            <a:endParaRPr lang="fr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fr-CA" smtClean="0"/>
              <a:pPr algn="r"/>
              <a:t>2026-09-02</a:t>
            </a:fld>
            <a:endParaRPr lang="fr-CA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fr-CA" smtClean="0"/>
              <a:pPr algn="l"/>
              <a:t>‹N°›</a:t>
            </a:fld>
            <a:endParaRPr lang="fr-CA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770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CA"/>
              <a:t>Click icon to add picture</a:t>
            </a:r>
            <a:endParaRPr lang="fr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fr-CA" smtClean="0"/>
              <a:pPr algn="r"/>
              <a:t>2026-09-02</a:t>
            </a:fld>
            <a:endParaRPr lang="fr-CA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fr-CA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fr-CA" smtClean="0"/>
              <a:pPr algn="l"/>
              <a:t>‹N°›</a:t>
            </a:fld>
            <a:endParaRPr lang="fr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137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Click to edit Master text styles</a:t>
            </a:r>
          </a:p>
          <a:p>
            <a:pPr lvl="1"/>
            <a:r>
              <a:rPr lang="fr-CA"/>
              <a:t>Second level</a:t>
            </a:r>
          </a:p>
          <a:p>
            <a:pPr lvl="2"/>
            <a:r>
              <a:rPr lang="fr-CA"/>
              <a:t>Third level</a:t>
            </a:r>
          </a:p>
          <a:p>
            <a:pPr lvl="3"/>
            <a:r>
              <a:rPr lang="fr-CA"/>
              <a:t>Fourth level</a:t>
            </a:r>
          </a:p>
          <a:p>
            <a:pPr lvl="4"/>
            <a:r>
              <a:rPr lang="fr-CA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fr-CA" smtClean="0"/>
              <a:pPr algn="r"/>
              <a:t>2026-09-02</a:t>
            </a:fld>
            <a:endParaRPr lang="fr-C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fr-CA" smtClean="0"/>
              <a:pPr algn="l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468280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fr-CA"/>
              <a:t>Click to edit Master title style</a:t>
            </a:r>
            <a:endParaRPr lang="fr-CA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fr-CA"/>
              <a:t>Click to edit Master text styles</a:t>
            </a:r>
          </a:p>
          <a:p>
            <a:pPr lvl="1"/>
            <a:r>
              <a:rPr lang="fr-CA"/>
              <a:t>Second level</a:t>
            </a:r>
          </a:p>
          <a:p>
            <a:pPr lvl="2"/>
            <a:r>
              <a:rPr lang="fr-CA"/>
              <a:t>Third level</a:t>
            </a:r>
          </a:p>
          <a:p>
            <a:pPr lvl="3"/>
            <a:r>
              <a:rPr lang="fr-CA"/>
              <a:t>Fourth level</a:t>
            </a:r>
          </a:p>
          <a:p>
            <a:pPr lvl="4"/>
            <a:r>
              <a:rPr lang="fr-CA"/>
              <a:t>Fifth level</a:t>
            </a:r>
            <a:endParaRPr lang="fr-C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fr-CA" smtClean="0"/>
              <a:pPr algn="r"/>
              <a:t>2026-09-02</a:t>
            </a:fld>
            <a:endParaRPr lang="fr-C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fr-CA" smtClean="0"/>
              <a:pPr algn="l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905677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Click to edit Master title style</a:t>
            </a:r>
            <a:endParaRPr lang="fr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Click to edit Master text styles</a:t>
            </a:r>
          </a:p>
          <a:p>
            <a:pPr lvl="1"/>
            <a:r>
              <a:rPr lang="fr-CA"/>
              <a:t>Second level</a:t>
            </a:r>
          </a:p>
          <a:p>
            <a:pPr lvl="2"/>
            <a:r>
              <a:rPr lang="fr-CA"/>
              <a:t>Third level</a:t>
            </a:r>
          </a:p>
          <a:p>
            <a:pPr lvl="3"/>
            <a:r>
              <a:rPr lang="fr-CA"/>
              <a:t>Fourth level</a:t>
            </a:r>
          </a:p>
          <a:p>
            <a:pPr lvl="4"/>
            <a:r>
              <a:rPr lang="fr-CA"/>
              <a:t>Fifth level</a:t>
            </a:r>
            <a:endParaRPr lang="fr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fr-CA" smtClean="0"/>
              <a:pPr algn="r"/>
              <a:t>2026-09-02</a:t>
            </a:fld>
            <a:endParaRPr lang="fr-CA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fr-CA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fr-CA" smtClean="0"/>
              <a:pPr algn="l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413438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C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phys.org/news/2012-04-scientists-crab-powered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.wikipedia.org/wiki/ENIAC" TargetMode="External"/><Relationship Id="rId5" Type="http://schemas.openxmlformats.org/officeDocument/2006/relationships/image" Target="../media/image6.jpeg"/><Relationship Id="rId4" Type="http://schemas.openxmlformats.org/officeDocument/2006/relationships/hyperlink" Target="https://fr.wikipedia.org/wiki/Zuse_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eb.maths.unsw.edu.au/~lafaye/CCM/pc/carte-mere.htm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hyperlink" Target="https://web.maths.unsw.edu.au/~lafaye/CCM/pc/carte-mere.htm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unestone.academy/ns/books/published/welcomecs/ComputerArchitecture/MemoryHeirarchy.html" TargetMode="Externa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9654BDA8-EE5D-4DC8-BA6E-A93D6501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8" y="736600"/>
            <a:ext cx="7534652" cy="53847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1CF2E-49A8-5615-CF2C-3D96A4D61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0814" y="1482634"/>
            <a:ext cx="5928018" cy="3046798"/>
          </a:xfrm>
        </p:spPr>
        <p:txBody>
          <a:bodyPr>
            <a:normAutofit/>
          </a:bodyPr>
          <a:lstStyle/>
          <a:p>
            <a:pPr algn="l"/>
            <a:r>
              <a:rPr lang="fr-CA" sz="4000" dirty="0">
                <a:solidFill>
                  <a:schemeClr val="bg1"/>
                </a:solidFill>
              </a:rPr>
              <a:t>TCH017 – </a:t>
            </a:r>
            <a:r>
              <a:rPr lang="fr-CA" sz="4000" dirty="0" err="1">
                <a:solidFill>
                  <a:schemeClr val="bg1"/>
                </a:solidFill>
              </a:rPr>
              <a:t>Cours</a:t>
            </a:r>
            <a:r>
              <a:rPr lang="fr-CA" sz="4000" dirty="0">
                <a:solidFill>
                  <a:schemeClr val="bg1"/>
                </a:solidFill>
              </a:rPr>
              <a:t>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66DAA-45EC-7C88-3668-B41DDBFEC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0814" y="4686300"/>
            <a:ext cx="5928018" cy="1057276"/>
          </a:xfrm>
        </p:spPr>
        <p:txBody>
          <a:bodyPr>
            <a:normAutofit fontScale="92500"/>
          </a:bodyPr>
          <a:lstStyle/>
          <a:p>
            <a:pPr algn="l"/>
            <a:r>
              <a:rPr lang="fr-CA" dirty="0"/>
              <a:t>ARCHITECTURE </a:t>
            </a:r>
            <a:r>
              <a:rPr lang="fr-CA"/>
              <a:t>ET MÉMOIRE</a:t>
            </a:r>
            <a:endParaRPr lang="fr-CA" dirty="0"/>
          </a:p>
        </p:txBody>
      </p:sp>
      <p:pic>
        <p:nvPicPr>
          <p:cNvPr id="4" name="Picture 3" descr="A white background with dots and lines&#10;&#10;Description automatically generated">
            <a:extLst>
              <a:ext uri="{FF2B5EF4-FFF2-40B4-BE49-F238E27FC236}">
                <a16:creationId xmlns:a16="http://schemas.microsoft.com/office/drawing/2014/main" id="{28E2BEC2-AC72-F02B-3637-91976EEF18A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4649" r="23674" b="2"/>
          <a:stretch/>
        </p:blipFill>
        <p:spPr>
          <a:xfrm>
            <a:off x="20" y="736600"/>
            <a:ext cx="4657328" cy="538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97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53FCF-8C1B-60C4-4247-CF69E408C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Apprendre les concepts fondamentaux de l’informatique (p. ex. l’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abstraction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L’intelligence artificielle (IA) aide à produire beaucoup de code rapidement, mais l’ingénieur(e) doit toujours comprendre son fonctionnement :</a:t>
            </a:r>
          </a:p>
          <a:p>
            <a:pPr marL="560070" lvl="1" indent="-285750" algn="just">
              <a:buFont typeface="Arial" panose="020B0604020202020204" pitchFamily="34" charset="0"/>
              <a:buChar char="•"/>
            </a:pP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Conception sous contraintes</a:t>
            </a:r>
          </a:p>
          <a:p>
            <a:pPr marL="560070" lvl="1" indent="-285750" algn="just">
              <a:buFont typeface="Arial" panose="020B0604020202020204" pitchFamily="34" charset="0"/>
              <a:buChar char="•"/>
            </a:pP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Analyse de compromis</a:t>
            </a:r>
          </a:p>
          <a:p>
            <a:pPr marL="560070" lvl="1" indent="-285750" algn="just">
              <a:buFont typeface="Arial" panose="020B0604020202020204" pitchFamily="34" charset="0"/>
              <a:buChar char="•"/>
            </a:pP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Déboguer les fuites causées par les différentes couches d’abstraction</a:t>
            </a:r>
            <a:endParaRPr lang="fr-CA" sz="13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Devenir un(e) meilleur(e) ingénieur(e).</a:t>
            </a:r>
          </a:p>
        </p:txBody>
      </p:sp>
      <p:pic>
        <p:nvPicPr>
          <p:cNvPr id="7" name="Picture 6" descr="A group of people with their hands up over a fire&#10;&#10;Description automatically generated">
            <a:extLst>
              <a:ext uri="{FF2B5EF4-FFF2-40B4-BE49-F238E27FC236}">
                <a16:creationId xmlns:a16="http://schemas.microsoft.com/office/drawing/2014/main" id="{2EF36D20-90CD-1C39-C82C-8B55EAD8B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832" y="5460186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13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ACTIVITÉ : QU’EST-CE QU’UN ORDINATEUR?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53FCF-8C1B-60C4-4247-CF69E408C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752"/>
            <a:ext cx="6912864" cy="3593592"/>
          </a:xfrm>
        </p:spPr>
        <p:txBody>
          <a:bodyPr>
            <a:normAutofit/>
          </a:bodyPr>
          <a:lstStyle/>
          <a:p>
            <a:pPr algn="just">
              <a:lnSpc>
                <a:spcPct val="114000"/>
              </a:lnSpc>
            </a:pP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En équipes de 2 :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Énumérez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les </a:t>
            </a:r>
            <a:r>
              <a:rPr lang="fr-CA" sz="1600" b="1" dirty="0" err="1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composants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d’un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ordinateur</a:t>
            </a: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Proposez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une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b="1" dirty="0" err="1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définition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de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ce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qu’est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un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ordinateur</a:t>
            </a: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algn="just">
              <a:lnSpc>
                <a:spcPct val="114000"/>
              </a:lnSpc>
            </a:pP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algn="just">
              <a:lnSpc>
                <a:spcPct val="114000"/>
              </a:lnSpc>
            </a:pP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Écrivez vos réponses sur ½ feuille de papier ainsi que les informations suivantes :</a:t>
            </a:r>
          </a:p>
          <a:p>
            <a:pPr marL="560070" lvl="1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Noms</a:t>
            </a: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marL="560070" lvl="1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Codes permanents</a:t>
            </a:r>
          </a:p>
          <a:p>
            <a:pPr marL="560070" lvl="1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Réponses</a:t>
            </a: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algn="just">
              <a:lnSpc>
                <a:spcPct val="114000"/>
              </a:lnSpc>
            </a:pP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algn="just">
              <a:lnSpc>
                <a:spcPct val="114000"/>
              </a:lnSpc>
            </a:pP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pic>
        <p:nvPicPr>
          <p:cNvPr id="1028" name="Picture 4" descr="Computer Components Images - Free Download on Freepik">
            <a:extLst>
              <a:ext uri="{FF2B5EF4-FFF2-40B4-BE49-F238E27FC236}">
                <a16:creationId xmlns:a16="http://schemas.microsoft.com/office/drawing/2014/main" id="{5E471E74-2D6B-7398-8014-DD4E5DF56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616" y="3661344"/>
            <a:ext cx="3529128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2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11D90-99AB-1FF9-1489-3DB1580C1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Retour SUR L’ACTIVITÉ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5D364-DF88-D2E7-2658-78A336534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 err="1">
                <a:latin typeface="Dubai" panose="020B0503030403030204" pitchFamily="34" charset="-78"/>
                <a:cs typeface="Dubai" panose="020B0503030403030204" pitchFamily="34" charset="-78"/>
              </a:rPr>
              <a:t>C’est</a:t>
            </a:r>
            <a:r>
              <a:rPr lang="fr-CA" dirty="0">
                <a:latin typeface="Dubai" panose="020B0503030403030204" pitchFamily="34" charset="-78"/>
                <a:cs typeface="Dubai" panose="020B0503030403030204" pitchFamily="34" charset="-78"/>
              </a:rPr>
              <a:t> plus </a:t>
            </a:r>
            <a:r>
              <a:rPr lang="fr-CA" dirty="0" err="1">
                <a:latin typeface="Dubai" panose="020B0503030403030204" pitchFamily="34" charset="-78"/>
                <a:cs typeface="Dubai" panose="020B0503030403030204" pitchFamily="34" charset="-78"/>
              </a:rPr>
              <a:t>nuancé</a:t>
            </a:r>
            <a:r>
              <a:rPr lang="fr-CA" dirty="0">
                <a:latin typeface="Dubai" panose="020B0503030403030204" pitchFamily="34" charset="-78"/>
                <a:cs typeface="Dubai" panose="020B0503030403030204" pitchFamily="34" charset="-78"/>
              </a:rPr>
              <a:t> que </a:t>
            </a:r>
            <a:r>
              <a:rPr lang="fr-CA" dirty="0" err="1">
                <a:latin typeface="Dubai" panose="020B0503030403030204" pitchFamily="34" charset="-78"/>
                <a:cs typeface="Dubai" panose="020B0503030403030204" pitchFamily="34" charset="-78"/>
              </a:rPr>
              <a:t>ce</a:t>
            </a:r>
            <a:r>
              <a:rPr lang="fr-CA" dirty="0">
                <a:latin typeface="Dubai" panose="020B0503030403030204" pitchFamily="34" charset="-78"/>
                <a:cs typeface="Dubai" panose="020B0503030403030204" pitchFamily="34" charset="-78"/>
              </a:rPr>
              <a:t> que </a:t>
            </a:r>
            <a:r>
              <a:rPr lang="fr-CA" dirty="0" err="1">
                <a:latin typeface="Dubai" panose="020B0503030403030204" pitchFamily="34" charset="-78"/>
                <a:cs typeface="Dubai" panose="020B0503030403030204" pitchFamily="34" charset="-78"/>
              </a:rPr>
              <a:t>vous</a:t>
            </a:r>
            <a:r>
              <a:rPr lang="fr-CA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fr-CA" dirty="0" err="1">
                <a:latin typeface="Dubai" panose="020B0503030403030204" pitchFamily="34" charset="-78"/>
                <a:cs typeface="Dubai" panose="020B0503030403030204" pitchFamily="34" charset="-78"/>
              </a:rPr>
              <a:t>pensez</a:t>
            </a:r>
            <a:r>
              <a:rPr lang="fr-CA" dirty="0">
                <a:latin typeface="Dubai" panose="020B0503030403030204" pitchFamily="34" charset="-78"/>
                <a:cs typeface="Dubai" panose="020B0503030403030204" pitchFamily="34" charset="-78"/>
              </a:rPr>
              <a:t> …</a:t>
            </a:r>
          </a:p>
          <a:p>
            <a:endParaRPr lang="fr-CA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2050" name="Picture 2" descr="Blue Soldier Crab | Project Noah">
            <a:hlinkClick r:id="rId2"/>
            <a:extLst>
              <a:ext uri="{FF2B5EF4-FFF2-40B4-BE49-F238E27FC236}">
                <a16:creationId xmlns:a16="http://schemas.microsoft.com/office/drawing/2014/main" id="{700B55CF-CDF1-4B7B-8A61-7B04915F0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226" y="3368361"/>
            <a:ext cx="552450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A48C35-41D0-EBEF-AF17-EAF50AA9FFF7}"/>
              </a:ext>
            </a:extLst>
          </p:cNvPr>
          <p:cNvSpPr txBox="1"/>
          <p:nvPr/>
        </p:nvSpPr>
        <p:spPr>
          <a:xfrm>
            <a:off x="9046947" y="3183695"/>
            <a:ext cx="2181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 err="1">
                <a:latin typeface="Dubai" panose="020B0503030403030204" pitchFamily="34" charset="-78"/>
                <a:cs typeface="Dubai" panose="020B0503030403030204" pitchFamily="34" charset="-78"/>
              </a:rPr>
              <a:t>Cliquez</a:t>
            </a:r>
            <a:r>
              <a:rPr lang="fr-CA" dirty="0">
                <a:latin typeface="Dubai" panose="020B0503030403030204" pitchFamily="34" charset="-78"/>
                <a:cs typeface="Dubai" panose="020B0503030403030204" pitchFamily="34" charset="-78"/>
              </a:rPr>
              <a:t> sur le </a:t>
            </a:r>
            <a:r>
              <a:rPr lang="fr-CA" dirty="0" err="1">
                <a:latin typeface="Dubai" panose="020B0503030403030204" pitchFamily="34" charset="-78"/>
                <a:cs typeface="Dubai" panose="020B0503030403030204" pitchFamily="34" charset="-78"/>
              </a:rPr>
              <a:t>crabe</a:t>
            </a:r>
            <a:r>
              <a:rPr lang="fr-CA" dirty="0">
                <a:latin typeface="Dubai" panose="020B0503030403030204" pitchFamily="34" charset="-78"/>
                <a:cs typeface="Dubai" panose="020B0503030403030204" pitchFamily="34" charset="-78"/>
              </a:rPr>
              <a:t>!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08660E9D-5FA4-5701-EFBA-36635EA405B6}"/>
              </a:ext>
            </a:extLst>
          </p:cNvPr>
          <p:cNvSpPr/>
          <p:nvPr/>
        </p:nvSpPr>
        <p:spPr>
          <a:xfrm>
            <a:off x="8150555" y="3096605"/>
            <a:ext cx="1412341" cy="1061519"/>
          </a:xfrm>
          <a:prstGeom prst="arc">
            <a:avLst>
              <a:gd name="adj1" fmla="val 21331967"/>
              <a:gd name="adj2" fmla="val 501959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61852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DÉFINITION EN MOTS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53FCF-8C1B-60C4-4247-CF69E408C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752"/>
            <a:ext cx="7686862" cy="3593592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b="1" u="sng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Déf</a:t>
            </a:r>
            <a:r>
              <a:rPr lang="fr-CA" sz="1600" b="1" u="sng" dirty="0"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	Machine capable de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traiter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des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informations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,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d’effectuer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des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calculs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et 	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d’exécuter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des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tâches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spécifiées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par des instructions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programmées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600" b="1" u="sng" dirty="0">
                <a:latin typeface="Dubai Light" panose="020B0303030403030204" pitchFamily="34" charset="-78"/>
                <a:cs typeface="Dubai Light" panose="020B0303030403030204" pitchFamily="34" charset="-78"/>
              </a:rPr>
              <a:t>Ex.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	Guichet automatique	</a:t>
            </a:r>
            <a:b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</a:b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	Téléphone intelligent</a:t>
            </a:r>
            <a:b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</a:b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	Téléviseur intelligent</a:t>
            </a:r>
            <a:b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</a:b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	Montre intelligente</a:t>
            </a:r>
            <a:b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</a:b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	Électroménagers (ex. four à micro-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ondes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)</a:t>
            </a:r>
            <a:b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</a:b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	Voiture</a:t>
            </a:r>
            <a:b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</a:b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	Avion</a:t>
            </a:r>
            <a:endParaRPr lang="fr-CA" sz="13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AAA620A5-EE65-F595-B6B8-7BA520692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9492" y="2587752"/>
            <a:ext cx="24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DA1DDD-DAB0-E6C8-BAB9-E9B091566117}"/>
              </a:ext>
            </a:extLst>
          </p:cNvPr>
          <p:cNvSpPr txBox="1"/>
          <p:nvPr/>
        </p:nvSpPr>
        <p:spPr>
          <a:xfrm>
            <a:off x="9219491" y="4384548"/>
            <a:ext cx="24000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1000" spc="50" dirty="0" err="1"/>
              <a:t>Ordinateur</a:t>
            </a:r>
            <a:r>
              <a:rPr lang="fr-CA" sz="1000" spc="50" dirty="0"/>
              <a:t> </a:t>
            </a:r>
            <a:r>
              <a:rPr lang="fr-CA" sz="1000" spc="50" dirty="0" err="1"/>
              <a:t>mécanique</a:t>
            </a:r>
            <a:r>
              <a:rPr lang="fr-CA" sz="1000" spc="50" dirty="0"/>
              <a:t> </a:t>
            </a:r>
            <a:r>
              <a:rPr lang="fr-CA" sz="1000" spc="50" dirty="0" err="1"/>
              <a:t>Zuse</a:t>
            </a:r>
            <a:r>
              <a:rPr lang="fr-CA" sz="1000" spc="50" dirty="0"/>
              <a:t> 1 (</a:t>
            </a:r>
            <a:r>
              <a:rPr lang="fr-CA" sz="1000" spc="50" dirty="0">
                <a:hlinkClick r:id="rId4"/>
              </a:rPr>
              <a:t>lien</a:t>
            </a:r>
            <a:r>
              <a:rPr lang="fr-CA" sz="1000" spc="50" dirty="0"/>
              <a:t>)</a:t>
            </a:r>
          </a:p>
        </p:txBody>
      </p:sp>
      <p:pic>
        <p:nvPicPr>
          <p:cNvPr id="2052" name="Picture 4" descr="Untold History of AI: Invisible Women Programmed America's First Electronic  Computer - IEEE Spectrum">
            <a:extLst>
              <a:ext uri="{FF2B5EF4-FFF2-40B4-BE49-F238E27FC236}">
                <a16:creationId xmlns:a16="http://schemas.microsoft.com/office/drawing/2014/main" id="{3E80A019-DD16-97BF-D3A2-E6ECE6603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9491" y="4740186"/>
            <a:ext cx="24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374ACE-4DBB-B2E5-1E89-0EDA3A16D4AA}"/>
              </a:ext>
            </a:extLst>
          </p:cNvPr>
          <p:cNvSpPr txBox="1"/>
          <p:nvPr/>
        </p:nvSpPr>
        <p:spPr>
          <a:xfrm>
            <a:off x="9219490" y="6560890"/>
            <a:ext cx="24000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1000" spc="50" dirty="0" err="1"/>
              <a:t>Ordinateur</a:t>
            </a:r>
            <a:r>
              <a:rPr lang="fr-CA" sz="1000" spc="50" dirty="0"/>
              <a:t> </a:t>
            </a:r>
            <a:r>
              <a:rPr lang="fr-CA" sz="1000" spc="50" dirty="0" err="1"/>
              <a:t>électronique</a:t>
            </a:r>
            <a:r>
              <a:rPr lang="fr-CA" sz="1000" spc="50" dirty="0"/>
              <a:t> ENIAC (</a:t>
            </a:r>
            <a:r>
              <a:rPr lang="fr-CA" sz="1000" spc="50" dirty="0">
                <a:hlinkClick r:id="rId6"/>
              </a:rPr>
              <a:t>lien</a:t>
            </a:r>
            <a:r>
              <a:rPr lang="fr-CA" sz="1000" spc="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02131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8" name="Rectangle 1030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029" name="Rectangle 1032">
            <a:extLst>
              <a:ext uri="{FF2B5EF4-FFF2-40B4-BE49-F238E27FC236}">
                <a16:creationId xmlns:a16="http://schemas.microsoft.com/office/drawing/2014/main" id="{725EFA61-F0F8-4F4A-B750-81EE924F1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4" y="0"/>
            <a:ext cx="7534655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0811" y="317500"/>
            <a:ext cx="5927576" cy="1701800"/>
          </a:xfrm>
        </p:spPr>
        <p:txBody>
          <a:bodyPr>
            <a:normAutofit/>
          </a:bodyPr>
          <a:lstStyle/>
          <a:p>
            <a:r>
              <a:rPr lang="fr-CA" sz="4500" dirty="0"/>
              <a:t>DÉFINITION PAR CRITÈRES</a:t>
            </a:r>
            <a:endParaRPr lang="fr-CA" sz="4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26" name="Picture 2" descr="The World John von Neumann Built | The Nation">
            <a:extLst>
              <a:ext uri="{FF2B5EF4-FFF2-40B4-BE49-F238E27FC236}">
                <a16:creationId xmlns:a16="http://schemas.microsoft.com/office/drawing/2014/main" id="{6531EE13-B014-D440-CC34-1182126C02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9" r="24568" b="-1"/>
          <a:stretch/>
        </p:blipFill>
        <p:spPr bwMode="auto">
          <a:xfrm>
            <a:off x="20" y="10"/>
            <a:ext cx="465732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53FCF-8C1B-60C4-4247-CF69E408C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810" y="2587625"/>
            <a:ext cx="6386365" cy="3594100"/>
          </a:xfrm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Selon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John Von-Neumann :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un </a:t>
            </a:r>
            <a:r>
              <a:rPr lang="fr-CA" sz="1600" b="1" dirty="0" err="1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médium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b="1" dirty="0" err="1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d’entrée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qui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permet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d’introduire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des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données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et des instructions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un </a:t>
            </a:r>
            <a:r>
              <a:rPr lang="fr-CA" sz="1600" b="1" dirty="0" err="1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médium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de sortie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qui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permet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de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transmettre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des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données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vers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l’extérieur</a:t>
            </a: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une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b="1" dirty="0" err="1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unité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b="1" dirty="0" err="1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d’emmagasinage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qui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permet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d’obtenir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des instructions et des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opérandes</a:t>
            </a: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une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b="1" dirty="0" err="1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unité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de </a:t>
            </a:r>
            <a:r>
              <a:rPr lang="fr-CA" sz="1600" b="1" dirty="0" err="1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contrôle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qui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permet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d’interpr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é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ter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des instructions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une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b="1" dirty="0" err="1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unité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de </a:t>
            </a:r>
            <a:r>
              <a:rPr lang="fr-CA" sz="1600" b="1" dirty="0" err="1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calcul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qui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permet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de faire des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calculs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arithmétiques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et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logiques</a:t>
            </a: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03984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SCHÉMA (UC + UAL)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7C42CC-1661-E0E8-F893-CCF55FFAA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644" y="2587752"/>
            <a:ext cx="10268712" cy="3593592"/>
          </a:xfrm>
        </p:spPr>
        <p:txBody>
          <a:bodyPr/>
          <a:lstStyle/>
          <a:p>
            <a:r>
              <a:rPr lang="fr-CA" dirty="0"/>
              <a:t>		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5E511D27-287C-AD71-E031-264FE9672D1E}"/>
              </a:ext>
            </a:extLst>
          </p:cNvPr>
          <p:cNvSpPr/>
          <p:nvPr/>
        </p:nvSpPr>
        <p:spPr>
          <a:xfrm>
            <a:off x="8370079" y="4136571"/>
            <a:ext cx="464452" cy="2160000"/>
          </a:xfrm>
          <a:prstGeom prst="rightBrace">
            <a:avLst>
              <a:gd name="adj1" fmla="val 60247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32C6A1E-1276-21EE-A431-BCA17AC53D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14476" y="2729600"/>
            <a:ext cx="4160000" cy="360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36A624-A198-9069-3287-390CB74D08BD}"/>
              </a:ext>
            </a:extLst>
          </p:cNvPr>
          <p:cNvSpPr txBox="1"/>
          <p:nvPr/>
        </p:nvSpPr>
        <p:spPr>
          <a:xfrm>
            <a:off x="9030134" y="4933440"/>
            <a:ext cx="22044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>
                <a:latin typeface="Consolas" panose="020B0609020204030204" pitchFamily="49" charset="0"/>
                <a:cs typeface="Dubai Light" panose="020B0303030403030204" pitchFamily="34" charset="-78"/>
              </a:rPr>
              <a:t>Unit</a:t>
            </a:r>
            <a:r>
              <a:rPr lang="en-US" sz="1600" dirty="0">
                <a:latin typeface="Consolas" panose="020B0609020204030204" pitchFamily="49" charset="0"/>
                <a:cs typeface="Dubai Light" panose="020B0303030403030204" pitchFamily="34" charset="-78"/>
              </a:rPr>
              <a:t>é centrale de </a:t>
            </a:r>
          </a:p>
          <a:p>
            <a:r>
              <a:rPr lang="en-US" sz="1600" dirty="0" err="1">
                <a:latin typeface="Consolas" panose="020B0609020204030204" pitchFamily="49" charset="0"/>
                <a:cs typeface="Dubai Light" panose="020B0303030403030204" pitchFamily="34" charset="-78"/>
              </a:rPr>
              <a:t>Traitement</a:t>
            </a:r>
            <a:r>
              <a:rPr lang="en-US" sz="1600" dirty="0">
                <a:latin typeface="Consolas" panose="020B0609020204030204" pitchFamily="49" charset="0"/>
                <a:cs typeface="Dubai Light" panose="020B0303030403030204" pitchFamily="34" charset="-78"/>
              </a:rPr>
              <a:t> (UCT)</a:t>
            </a:r>
            <a:endParaRPr lang="fr-CA" sz="1600" dirty="0">
              <a:latin typeface="Consolas" panose="020B0609020204030204" pitchFamily="49" charset="0"/>
              <a:cs typeface="Dubai Light" panose="020B03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7120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8777C8-DBAC-4AF3-7D89-7DA7D2EF184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fr-CA" sz="4500" dirty="0"/>
                  <a:t>SCHÉMA (UC + UAL </a:t>
                </a:r>
                <a14:m>
                  <m:oMath xmlns:m="http://schemas.openxmlformats.org/officeDocument/2006/math">
                    <m:r>
                      <a:rPr lang="fr-CA" sz="4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fr-CA" sz="4500" dirty="0"/>
                  <a:t> UCT)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8777C8-DBAC-4AF3-7D89-7DA7D2EF18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9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7C42CC-1661-E0E8-F893-CCF55FFAA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		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CFE0E1A-F622-085C-3B4D-404BF40D8A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6368" y="2786062"/>
            <a:ext cx="3976216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73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 err="1"/>
              <a:t>SYSTème</a:t>
            </a:r>
            <a:r>
              <a:rPr lang="fr-CA" sz="4500" dirty="0"/>
              <a:t> d'exploitation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E3A57D-BAEC-999D-1AE1-6BE06A32C192}"/>
              </a:ext>
            </a:extLst>
          </p:cNvPr>
          <p:cNvSpPr txBox="1">
            <a:spLocks/>
          </p:cNvSpPr>
          <p:nvPr/>
        </p:nvSpPr>
        <p:spPr>
          <a:xfrm>
            <a:off x="960120" y="2587752"/>
            <a:ext cx="10267200" cy="3593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Communément appelé « 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OS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 » pour « operating system ».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Intermédiaire entre le matériel et l’utilisateur/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trice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qui permet de faire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abstraction de la machine réelle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Il s’agit d’un</a:t>
            </a:r>
            <a:r>
              <a:rPr lang="fr-CA" sz="1600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Ensemble de programmes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qui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coordonne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les tâches accomplies et assure la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gestion de ces ressources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(p. ex. les mémoires, les périphériques, la sécurité et autres).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Différents types :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100" dirty="0">
                <a:latin typeface="Dubai Light" panose="020B0303030403030204" pitchFamily="34" charset="-78"/>
                <a:cs typeface="Dubai Light" panose="020B0303030403030204" pitchFamily="34" charset="-78"/>
              </a:rPr>
              <a:t>Bureau (Windows, Mac OS, Linux)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100" dirty="0">
                <a:latin typeface="Dubai Light" panose="020B0303030403030204" pitchFamily="34" charset="-78"/>
                <a:cs typeface="Dubai Light" panose="020B0303030403030204" pitchFamily="34" charset="-78"/>
              </a:rPr>
              <a:t>Serveur (Linux)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100" dirty="0">
                <a:latin typeface="Dubai Light" panose="020B0303030403030204" pitchFamily="34" charset="-78"/>
                <a:cs typeface="Dubai Light" panose="020B0303030403030204" pitchFamily="34" charset="-78"/>
              </a:rPr>
              <a:t>Embarqué (Raspbian, FreeBSD) 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100" dirty="0">
                <a:latin typeface="Dubai Light" panose="020B0303030403030204" pitchFamily="34" charset="-78"/>
                <a:cs typeface="Dubai Light" panose="020B0303030403030204" pitchFamily="34" charset="-78"/>
              </a:rPr>
              <a:t>Temps-réel (</a:t>
            </a:r>
            <a:r>
              <a:rPr lang="fr-CA" sz="11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FreeRTOS</a:t>
            </a:r>
            <a:r>
              <a:rPr lang="fr-CA" sz="1100" dirty="0">
                <a:latin typeface="Dubai Light" panose="020B0303030403030204" pitchFamily="34" charset="-78"/>
                <a:cs typeface="Dubai Light" panose="020B0303030403030204" pitchFamily="34" charset="-78"/>
              </a:rPr>
              <a:t>, </a:t>
            </a:r>
            <a:r>
              <a:rPr lang="fr-CA" sz="11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RTLinux</a:t>
            </a:r>
            <a:r>
              <a:rPr lang="fr-CA" sz="1100" dirty="0">
                <a:latin typeface="Dubai Light" panose="020B0303030403030204" pitchFamily="34" charset="-78"/>
                <a:cs typeface="Dubai Light" panose="020B0303030403030204" pitchFamily="34" charset="-78"/>
              </a:rPr>
              <a:t>)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100" dirty="0">
                <a:latin typeface="Dubai Light" panose="020B0303030403030204" pitchFamily="34" charset="-78"/>
                <a:cs typeface="Dubai Light" panose="020B0303030403030204" pitchFamily="34" charset="-78"/>
              </a:rPr>
              <a:t>Mobile (Android, iOS)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endParaRPr lang="fr-CA" sz="14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lvl="1" indent="0" algn="just">
              <a:lnSpc>
                <a:spcPct val="114000"/>
              </a:lnSpc>
              <a:buNone/>
            </a:pPr>
            <a:endParaRPr lang="fr-CA" sz="14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48827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CARTE MÈRE ou « </a:t>
            </a:r>
            <a:r>
              <a:rPr lang="fr-CA" sz="4500" dirty="0" err="1"/>
              <a:t>motherboard</a:t>
            </a:r>
            <a:r>
              <a:rPr lang="fr-CA" sz="4500" dirty="0"/>
              <a:t> »</a:t>
            </a:r>
          </a:p>
        </p:txBody>
      </p:sp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A8888AA-73AC-6DB2-8CE7-911093926738}"/>
              </a:ext>
            </a:extLst>
          </p:cNvPr>
          <p:cNvSpPr txBox="1">
            <a:spLocks/>
          </p:cNvSpPr>
          <p:nvPr/>
        </p:nvSpPr>
        <p:spPr>
          <a:xfrm>
            <a:off x="960120" y="2587752"/>
            <a:ext cx="6682740" cy="3593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Circuit imprimé qui 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relie les composants d'un ordinateur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par des 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lignes de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bus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Programme informatique de bas niveau nommé « 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Basic Input/Output System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» ou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BIOS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stocké dans une mémoire en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lecture seule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ou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ROM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pour « </a:t>
            </a:r>
            <a:r>
              <a:rPr lang="fr-CA" sz="1600" b="1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read-only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 memory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».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Le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chipset</a:t>
            </a:r>
            <a:r>
              <a:rPr lang="fr-CA" sz="1600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:</a:t>
            </a:r>
          </a:p>
          <a:p>
            <a:pPr marL="560070" lvl="1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Mémoire non volatile nommée </a:t>
            </a:r>
            <a:r>
              <a:rPr lang="fr-CA" sz="14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CMOS</a:t>
            </a: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 (± 256 octets) qui stocke les différents réglages importants comme ceux du BIOS et de l'horloge.</a:t>
            </a:r>
          </a:p>
          <a:p>
            <a:pPr marL="560070" lvl="1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Contrôleurs pour les bus, les entrées/sorties, les mémoires et l'alimentation.</a:t>
            </a:r>
          </a:p>
          <a:p>
            <a:pPr marL="560070" lvl="1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Périphériques intégrés (p. ex. puces réseau et audio).</a:t>
            </a:r>
          </a:p>
        </p:txBody>
      </p:sp>
      <p:pic>
        <p:nvPicPr>
          <p:cNvPr id="3" name="Picture 2" descr="Carte mère">
            <a:extLst>
              <a:ext uri="{FF2B5EF4-FFF2-40B4-BE49-F238E27FC236}">
                <a16:creationId xmlns:a16="http://schemas.microsoft.com/office/drawing/2014/main" id="{36ED8351-7966-E21D-C175-9B0F55DBF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7744" y="2594039"/>
            <a:ext cx="3750000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49F4D5-7C65-95A1-C1DA-4312F7B1DD42}"/>
              </a:ext>
            </a:extLst>
          </p:cNvPr>
          <p:cNvSpPr txBox="1"/>
          <p:nvPr/>
        </p:nvSpPr>
        <p:spPr>
          <a:xfrm>
            <a:off x="7917744" y="6413500"/>
            <a:ext cx="375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12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Source : </a:t>
            </a:r>
            <a:r>
              <a:rPr lang="fr-CA" sz="1200" dirty="0">
                <a:latin typeface="Dubai Light" panose="020B0303030403030204" pitchFamily="34" charset="-78"/>
                <a:cs typeface="Dubai Light" panose="020B0303030403030204" pitchFamily="34" charset="-78"/>
              </a:rPr>
              <a:t>Comment Ça Marche (</a:t>
            </a:r>
            <a:r>
              <a:rPr lang="fr-CA" sz="1200" dirty="0">
                <a:latin typeface="Dubai Light" panose="020B0303030403030204" pitchFamily="34" charset="-78"/>
                <a:cs typeface="Dubai Light" panose="020B0303030403030204" pitchFamily="34" charset="-78"/>
                <a:hlinkClick r:id="rId4"/>
              </a:rPr>
              <a:t>cliquez ici</a:t>
            </a:r>
            <a:r>
              <a:rPr lang="fr-CA" sz="1200" dirty="0">
                <a:latin typeface="Dubai Light" panose="020B0303030403030204" pitchFamily="34" charset="-78"/>
                <a:cs typeface="Dubai Light" panose="020B0303030403030204" pitchFamily="34" charset="-7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82003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CARTE MÈRE ou « </a:t>
            </a:r>
            <a:r>
              <a:rPr lang="fr-CA" sz="4500" dirty="0" err="1"/>
              <a:t>motherboard</a:t>
            </a:r>
            <a:r>
              <a:rPr lang="fr-CA" sz="4500" dirty="0"/>
              <a:t> »</a:t>
            </a:r>
          </a:p>
        </p:txBody>
      </p:sp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A8888AA-73AC-6DB2-8CE7-911093926738}"/>
              </a:ext>
            </a:extLst>
          </p:cNvPr>
          <p:cNvSpPr txBox="1">
            <a:spLocks/>
          </p:cNvSpPr>
          <p:nvPr/>
        </p:nvSpPr>
        <p:spPr>
          <a:xfrm>
            <a:off x="960120" y="2587752"/>
            <a:ext cx="6682740" cy="3593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Plusieurs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connecteurs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pour l'alimentation, la mémoire et les extensions.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Plusieurs connecteurs E/S pour les périphériques : 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300" dirty="0">
                <a:latin typeface="Dubai Light" panose="020B0303030403030204" pitchFamily="34" charset="-78"/>
                <a:cs typeface="Dubai Light" panose="020B0303030403030204" pitchFamily="34" charset="-78"/>
              </a:rPr>
              <a:t>USB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300" dirty="0">
                <a:latin typeface="Dubai Light" panose="020B0303030403030204" pitchFamily="34" charset="-78"/>
                <a:cs typeface="Dubai Light" panose="020B0303030403030204" pitchFamily="34" charset="-78"/>
              </a:rPr>
              <a:t>HDMI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300" dirty="0">
                <a:latin typeface="Dubai Light" panose="020B0303030403030204" pitchFamily="34" charset="-78"/>
                <a:cs typeface="Dubai Light" panose="020B0303030403030204" pitchFamily="34" charset="-78"/>
              </a:rPr>
              <a:t>PS/2 (clavier et souris)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300" dirty="0">
                <a:latin typeface="Dubai Light" panose="020B0303030403030204" pitchFamily="34" charset="-78"/>
                <a:cs typeface="Dubai Light" panose="020B0303030403030204" pitchFamily="34" charset="-78"/>
              </a:rPr>
              <a:t>VGA et DVI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300" dirty="0">
                <a:latin typeface="Dubai Light" panose="020B0303030403030204" pitchFamily="34" charset="-78"/>
                <a:cs typeface="Dubai Light" panose="020B0303030403030204" pitchFamily="34" charset="-78"/>
              </a:rPr>
              <a:t>LAN ou Ethernet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300" dirty="0">
                <a:latin typeface="Dubai Light" panose="020B0303030403030204" pitchFamily="34" charset="-78"/>
                <a:cs typeface="Dubai Light" panose="020B0303030403030204" pitchFamily="34" charset="-78"/>
              </a:rPr>
              <a:t>Audio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300" dirty="0">
                <a:latin typeface="Dubai Light" panose="020B0303030403030204" pitchFamily="34" charset="-78"/>
                <a:cs typeface="Dubai Light" panose="020B0303030403030204" pitchFamily="34" charset="-78"/>
              </a:rPr>
              <a:t>Autres</a:t>
            </a:r>
          </a:p>
        </p:txBody>
      </p:sp>
      <p:pic>
        <p:nvPicPr>
          <p:cNvPr id="3" name="Picture 2" descr="Carte mère">
            <a:extLst>
              <a:ext uri="{FF2B5EF4-FFF2-40B4-BE49-F238E27FC236}">
                <a16:creationId xmlns:a16="http://schemas.microsoft.com/office/drawing/2014/main" id="{36ED8351-7966-E21D-C175-9B0F55DBFA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778"/>
          <a:stretch/>
        </p:blipFill>
        <p:spPr bwMode="auto">
          <a:xfrm>
            <a:off x="7917744" y="4805363"/>
            <a:ext cx="3750000" cy="1375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49F4D5-7C65-95A1-C1DA-4312F7B1DD42}"/>
              </a:ext>
            </a:extLst>
          </p:cNvPr>
          <p:cNvSpPr txBox="1"/>
          <p:nvPr/>
        </p:nvSpPr>
        <p:spPr>
          <a:xfrm>
            <a:off x="7917744" y="6413500"/>
            <a:ext cx="375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12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Source : </a:t>
            </a:r>
            <a:r>
              <a:rPr lang="fr-CA" sz="1200" dirty="0">
                <a:latin typeface="Dubai Light" panose="020B0303030403030204" pitchFamily="34" charset="-78"/>
                <a:cs typeface="Dubai Light" panose="020B0303030403030204" pitchFamily="34" charset="-78"/>
              </a:rPr>
              <a:t>Comment Ça Marche (</a:t>
            </a:r>
            <a:r>
              <a:rPr lang="fr-CA" sz="1200" dirty="0">
                <a:latin typeface="Dubai Light" panose="020B0303030403030204" pitchFamily="34" charset="-78"/>
                <a:cs typeface="Dubai Light" panose="020B0303030403030204" pitchFamily="34" charset="-78"/>
                <a:hlinkClick r:id="rId4"/>
              </a:rPr>
              <a:t>cliquez ici</a:t>
            </a:r>
            <a:r>
              <a:rPr lang="fr-CA" sz="1200" dirty="0">
                <a:latin typeface="Dubai Light" panose="020B0303030403030204" pitchFamily="34" charset="-78"/>
                <a:cs typeface="Dubai Light" panose="020B0303030403030204" pitchFamily="34" charset="-78"/>
              </a:rPr>
              <a:t>)</a:t>
            </a:r>
          </a:p>
        </p:txBody>
      </p:sp>
      <p:pic>
        <p:nvPicPr>
          <p:cNvPr id="2050" name="Picture 2" descr="Connecteurs sur le panneau arrière">
            <a:extLst>
              <a:ext uri="{FF2B5EF4-FFF2-40B4-BE49-F238E27FC236}">
                <a16:creationId xmlns:a16="http://schemas.microsoft.com/office/drawing/2014/main" id="{06DB51F5-B894-869B-27FC-0147B14F4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6544" y="3661639"/>
            <a:ext cx="3751200" cy="911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8609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 err="1"/>
              <a:t>Vous</a:t>
            </a:r>
            <a:r>
              <a:rPr lang="fr-CA" sz="4500" dirty="0"/>
              <a:t> </a:t>
            </a:r>
            <a:r>
              <a:rPr lang="fr-CA" sz="4500" dirty="0" err="1"/>
              <a:t>avez</a:t>
            </a:r>
            <a:r>
              <a:rPr lang="fr-CA" sz="4500" dirty="0"/>
              <a:t> </a:t>
            </a:r>
            <a:r>
              <a:rPr lang="fr-CA" sz="4500" dirty="0" err="1"/>
              <a:t>dit</a:t>
            </a:r>
            <a:r>
              <a:rPr lang="fr-CA" sz="4500" dirty="0"/>
              <a:t> … bus?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7C42CC-1661-E0E8-F893-CCF55FFAA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E58D4-6245-F2C5-8CBA-CEED2BBF9BD5}"/>
              </a:ext>
            </a:extLst>
          </p:cNvPr>
          <p:cNvSpPr txBox="1">
            <a:spLocks/>
          </p:cNvSpPr>
          <p:nvPr/>
        </p:nvSpPr>
        <p:spPr>
          <a:xfrm>
            <a:off x="960120" y="2587752"/>
            <a:ext cx="7686862" cy="3593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b="1" u="sng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Déf</a:t>
            </a:r>
            <a:r>
              <a:rPr lang="fr-CA" sz="1600" b="1" u="sng" dirty="0"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	Ensemble de fils qui relient les composants d’un ordinateur pour 	permettre le transfert d’information.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Types de bus :</a:t>
            </a:r>
          </a:p>
          <a:p>
            <a:pPr marL="937260" lvl="3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Bus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système</a:t>
            </a: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marL="937260" lvl="3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Bus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d’extension</a:t>
            </a: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marL="937260" lvl="3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Bus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d’entrée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/sortie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Types </a:t>
            </a:r>
            <a:r>
              <a:rPr lang="fr-CA" sz="1600" b="1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d’informations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b="1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transférées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 : </a:t>
            </a:r>
          </a:p>
          <a:p>
            <a:pPr marL="937260" lvl="3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Adresses (opérations, données) </a:t>
            </a:r>
          </a:p>
          <a:p>
            <a:pPr marL="937260" lvl="3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Données</a:t>
            </a:r>
          </a:p>
          <a:p>
            <a:pPr marL="937260" lvl="3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Commandes</a:t>
            </a: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9" name="Picture 8" descr="A green circuit board with many small holes&#10;&#10;Description automatically generated">
            <a:extLst>
              <a:ext uri="{FF2B5EF4-FFF2-40B4-BE49-F238E27FC236}">
                <a16:creationId xmlns:a16="http://schemas.microsoft.com/office/drawing/2014/main" id="{5294C017-C36F-7DF2-32D3-3B8169C00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354578" y="4125931"/>
            <a:ext cx="3028509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11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5B42B6-26F8-4E25-839B-FB38F13BE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sz="4500" kern="1200" cap="all" spc="12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CARACTÉRISTIQUES D’UN BUS</a:t>
            </a:r>
          </a:p>
        </p:txBody>
      </p:sp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845DAD6-7842-D19D-72F0-FC1976717B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8680208"/>
                  </p:ext>
                </p:extLst>
              </p:nvPr>
            </p:nvGraphicFramePr>
            <p:xfrm>
              <a:off x="960120" y="2582803"/>
              <a:ext cx="5870828" cy="22629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11476">
                      <a:extLst>
                        <a:ext uri="{9D8B030D-6E8A-4147-A177-3AD203B41FA5}">
                          <a16:colId xmlns:a16="http://schemas.microsoft.com/office/drawing/2014/main" val="2722251203"/>
                        </a:ext>
                      </a:extLst>
                    </a:gridCol>
                    <a:gridCol w="488887">
                      <a:extLst>
                        <a:ext uri="{9D8B030D-6E8A-4147-A177-3AD203B41FA5}">
                          <a16:colId xmlns:a16="http://schemas.microsoft.com/office/drawing/2014/main" val="4193161724"/>
                        </a:ext>
                      </a:extLst>
                    </a:gridCol>
                    <a:gridCol w="3870465">
                      <a:extLst>
                        <a:ext uri="{9D8B030D-6E8A-4147-A177-3AD203B41FA5}">
                          <a16:colId xmlns:a16="http://schemas.microsoft.com/office/drawing/2014/main" val="341740331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fr-CA" sz="1600" b="1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Largeur [bits]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>
                                <m:r>
                                  <a:rPr lang="fr-CA" sz="1600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fr-CA" sz="1600" b="0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Nombre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de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lignes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conductrices.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Valeurs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usuelles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de 8, 16, 32, 64 et 128 bits.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680641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fr-CA" sz="1600" b="1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Fréquence [Hz]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>
                                <m:r>
                                  <a:rPr lang="fr-CA" sz="1600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fr-CA" sz="1600" b="0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Vitesse à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laquelle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les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données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sont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transmises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200199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fr-CA" sz="1600" b="1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Débit [bps]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>
                                <m:r>
                                  <a:rPr lang="fr-CA" sz="1600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fr-CA" sz="1600" b="0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Quantité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d’information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transmise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par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unité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de temps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mesurée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en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bits/octets par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seconde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344673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845DAD6-7842-D19D-72F0-FC1976717B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8680208"/>
                  </p:ext>
                </p:extLst>
              </p:nvPr>
            </p:nvGraphicFramePr>
            <p:xfrm>
              <a:off x="960120" y="2582803"/>
              <a:ext cx="5870828" cy="22629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11476">
                      <a:extLst>
                        <a:ext uri="{9D8B030D-6E8A-4147-A177-3AD203B41FA5}">
                          <a16:colId xmlns:a16="http://schemas.microsoft.com/office/drawing/2014/main" val="2722251203"/>
                        </a:ext>
                      </a:extLst>
                    </a:gridCol>
                    <a:gridCol w="488887">
                      <a:extLst>
                        <a:ext uri="{9D8B030D-6E8A-4147-A177-3AD203B41FA5}">
                          <a16:colId xmlns:a16="http://schemas.microsoft.com/office/drawing/2014/main" val="4193161724"/>
                        </a:ext>
                      </a:extLst>
                    </a:gridCol>
                    <a:gridCol w="3870465">
                      <a:extLst>
                        <a:ext uri="{9D8B030D-6E8A-4147-A177-3AD203B41FA5}">
                          <a16:colId xmlns:a16="http://schemas.microsoft.com/office/drawing/2014/main" val="341740331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fr-CA" sz="1600" b="1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Largeur [bits]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000" r="-795000" b="-2262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Nombre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de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lignes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conductrices.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Valeurs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usuelles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de 8, 16, 32, 64 et 128 bits.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680641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fr-CA" sz="1600" b="1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Fréquence [Hz]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000" t="-99160" r="-795000" b="-124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Vitesse à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laquelle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les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données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sont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transmises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2001991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fr-CA" sz="1600" b="1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Débit [bps]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000" t="-175556" r="-795000" b="-9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Quantité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d’information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transmise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par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unité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de temps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mesurée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en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 bits/octets par </a:t>
                          </a:r>
                          <a:r>
                            <a:rPr lang="fr-CA" sz="1600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seconde</a:t>
                          </a:r>
                          <a:r>
                            <a:rPr lang="fr-CA" sz="16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344673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AutoShape 8" descr="Germany's Autobahn: Driving On The Road With No Speed Limit">
            <a:extLst>
              <a:ext uri="{FF2B5EF4-FFF2-40B4-BE49-F238E27FC236}">
                <a16:creationId xmlns:a16="http://schemas.microsoft.com/office/drawing/2014/main" id="{BF15742A-FEEA-024A-BC38-FA3AFE4728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18" name="Picture 17" descr="A highway with lights on it&#10;&#10;Description automatically generated with medium confidence">
            <a:extLst>
              <a:ext uri="{FF2B5EF4-FFF2-40B4-BE49-F238E27FC236}">
                <a16:creationId xmlns:a16="http://schemas.microsoft.com/office/drawing/2014/main" id="{ABE10DDA-1CF5-A0B8-3C0E-695B71BC2C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704" y="2264988"/>
            <a:ext cx="4654296" cy="4593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A8C7D49-6139-94B4-4109-CF791108F56F}"/>
                  </a:ext>
                </a:extLst>
              </p:cNvPr>
              <p:cNvSpPr txBox="1"/>
              <p:nvPr/>
            </p:nvSpPr>
            <p:spPr>
              <a:xfrm>
                <a:off x="960120" y="5051293"/>
                <a:ext cx="505875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fr-CA" sz="1600" b="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Le </a:t>
                </a:r>
                <a:r>
                  <a:rPr lang="fr-CA" sz="1600" b="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d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ébit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correspond à la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fréquence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multipliée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par la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largeur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:</a:t>
                </a:r>
                <a:b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</a:br>
                <a:b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</a:br>
                <a14:m>
                  <m:oMathPara xmlns:m="http://schemas.openxmlformats.org/officeDocument/2006/math">
                    <m:oMath>
                      <m:r>
                        <a:rPr lang="fr-CA" sz="16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fr-CA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sz="1600" b="0" i="1" smtClean="0">
                          <a:latin typeface="Cambria Math" panose="02040503050406030204" pitchFamily="18" charset="0"/>
                        </a:rPr>
                        <m:t>𝑤𝑓</m:t>
                      </m:r>
                    </m:oMath>
                  </m:oMathPara>
                </a14:m>
                <a:endParaRPr lang="fr-CA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A8C7D49-6139-94B4-4109-CF791108F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5051293"/>
                <a:ext cx="5058757" cy="830997"/>
              </a:xfrm>
              <a:prstGeom prst="rect">
                <a:avLst/>
              </a:prstGeom>
              <a:blipFill>
                <a:blip r:embed="rId5"/>
                <a:stretch>
                  <a:fillRect l="-724" t="-2206" b="-441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2361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EXEMPLE DE CALCUL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7C42CC-1661-E0E8-F893-CCF55FFAA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	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E58D4-6245-F2C5-8CBA-CEED2BBF9B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0120" y="2587752"/>
                <a:ext cx="7686862" cy="3593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1000"/>
                  </a:lnSpc>
                  <a:spcBef>
                    <a:spcPts val="700"/>
                  </a:spcBef>
                  <a:spcAft>
                    <a:spcPts val="700"/>
                  </a:spcAft>
                  <a:buFont typeface="Arial" panose="020B0604020202020204" pitchFamily="34" charset="0"/>
                  <a:buNone/>
                  <a:defRPr sz="260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74320" indent="-274320" algn="l" defTabSz="914400" rtl="0" eaLnBrk="1" latinLnBrk="0" hangingPunct="1">
                  <a:lnSpc>
                    <a:spcPct val="101000"/>
                  </a:lnSpc>
                  <a:spcBef>
                    <a:spcPts val="400"/>
                  </a:spcBef>
                  <a:spcAft>
                    <a:spcPts val="400"/>
                  </a:spcAft>
                  <a:buClrTx/>
                  <a:buFont typeface="Wingdings" panose="05000000000000000000" pitchFamily="2" charset="2"/>
                  <a:buChar char="§"/>
                  <a:defRPr sz="230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274320" indent="0" algn="l" defTabSz="914400" rtl="0" eaLnBrk="1" latinLnBrk="0" hangingPunct="1">
                  <a:lnSpc>
                    <a:spcPct val="101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800" b="1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274320" algn="l" defTabSz="914400" rtl="0" eaLnBrk="1" latinLnBrk="0" hangingPunct="1">
                  <a:lnSpc>
                    <a:spcPct val="101000"/>
                  </a:lnSpc>
                  <a:spcBef>
                    <a:spcPts val="400"/>
                  </a:spcBef>
                  <a:spcAft>
                    <a:spcPts val="400"/>
                  </a:spcAft>
                  <a:buClrTx/>
                  <a:buFont typeface="Wingdings" panose="05000000000000000000" pitchFamily="2" charset="2"/>
                  <a:buChar char="§"/>
                  <a:defRPr sz="180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94360" indent="0" algn="l" defTabSz="914400" rtl="0" eaLnBrk="1" latinLnBrk="0" hangingPunct="1">
                  <a:lnSpc>
                    <a:spcPct val="101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800" b="1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14000"/>
                  </a:lnSpc>
                </a:pP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L’objectif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est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de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transférer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512 000 000 000 bits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d’information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sur un bus de 8 bits de large à 100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MHz.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Combien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de temps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cela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prendra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-t-il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en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minutes-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secondes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?</a:t>
                </a:r>
              </a:p>
              <a:p>
                <a:pPr algn="just">
                  <a:lnSpc>
                    <a:spcPct val="114000"/>
                  </a:lnSpc>
                </a:pPr>
                <a:endParaRPr lang="fr-CA" sz="1600" dirty="0">
                  <a:latin typeface="Dubai Light" panose="020B0303030403030204" pitchFamily="34" charset="-78"/>
                  <a:cs typeface="Dubai Light" panose="020B0303030403030204" pitchFamily="34" charset="-78"/>
                </a:endParaRPr>
              </a:p>
              <a:p>
                <a:pPr algn="just"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fr-CA" sz="1600" b="0" i="0" smtClean="0">
                              <a:latin typeface="Cambria Math" panose="02040503050406030204" pitchFamily="18" charset="0"/>
                              <a:cs typeface="Dubai Light" panose="020B0303030403030204" pitchFamily="34" charset="-78"/>
                            </a:rPr>
                          </m:ctrlPr>
                        </m:fPr>
                        <m:num>
                          <m:r>
                            <a:rPr lang="fr-CA" sz="1600" b="0" i="0" smtClean="0">
                              <a:latin typeface="Cambria Math" panose="02040503050406030204" pitchFamily="18" charset="0"/>
                              <a:cs typeface="Dubai Light" panose="020B0303030403030204" pitchFamily="34" charset="-78"/>
                            </a:rPr>
                            <m:t>512</m:t>
                          </m:r>
                          <m:r>
                            <a:rPr lang="fr-CA" sz="1600" b="0" i="1" smtClean="0">
                              <a:latin typeface="Cambria Math" panose="02040503050406030204" pitchFamily="18" charset="0"/>
                              <a:cs typeface="Dubai Light" panose="020B0303030403030204" pitchFamily="34" charset="-78"/>
                            </a:rPr>
                            <m:t>×</m:t>
                          </m:r>
                          <m:sSup>
                            <m:sSupPr>
                              <m:ctrlPr>
                                <a:rPr lang="fr-CA" sz="1600" b="0" i="1" smtClean="0">
                                  <a:latin typeface="Cambria Math" panose="02040503050406030204" pitchFamily="18" charset="0"/>
                                  <a:cs typeface="Dubai Light" panose="020B0303030403030204" pitchFamily="34" charset="-78"/>
                                </a:rPr>
                              </m:ctrlPr>
                            </m:sSupPr>
                            <m:e>
                              <m:r>
                                <a:rPr lang="fr-CA" sz="1600" b="0" i="1" smtClean="0">
                                  <a:latin typeface="Cambria Math" panose="02040503050406030204" pitchFamily="18" charset="0"/>
                                  <a:cs typeface="Dubai Light" panose="020B0303030403030204" pitchFamily="34" charset="-78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CA" sz="1600" b="0" i="0" smtClean="0">
                                  <a:latin typeface="Cambria Math" panose="02040503050406030204" pitchFamily="18" charset="0"/>
                                  <a:cs typeface="Dubai Light" panose="020B0303030403030204" pitchFamily="34" charset="-78"/>
                                </a:rPr>
                                <m:t>9</m:t>
                              </m:r>
                            </m:sup>
                          </m:sSup>
                          <m:r>
                            <a:rPr lang="fr-CA" sz="1600" b="0" i="0" smtClean="0">
                              <a:latin typeface="Cambria Math" panose="02040503050406030204" pitchFamily="18" charset="0"/>
                              <a:cs typeface="Dubai Light" panose="020B0303030403030204" pitchFamily="34" charset="-78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600" b="0" i="0" smtClean="0">
                              <a:latin typeface="Cambria Math" panose="02040503050406030204" pitchFamily="18" charset="0"/>
                              <a:cs typeface="Dubai Light" panose="020B0303030403030204" pitchFamily="34" charset="-78"/>
                            </a:rPr>
                            <m:t>bits</m:t>
                          </m:r>
                        </m:num>
                        <m:den>
                          <m:d>
                            <m:dPr>
                              <m:ctrlPr>
                                <a:rPr lang="fr-CA" sz="1600" i="1">
                                  <a:latin typeface="Cambria Math" panose="02040503050406030204" pitchFamily="18" charset="0"/>
                                  <a:cs typeface="Dubai Light" panose="020B0303030403030204" pitchFamily="34" charset="-78"/>
                                </a:rPr>
                              </m:ctrlPr>
                            </m:dPr>
                            <m:e>
                              <m:r>
                                <a:rPr lang="fr-CA" sz="1600" i="1">
                                  <a:latin typeface="Cambria Math" panose="02040503050406030204" pitchFamily="18" charset="0"/>
                                  <a:cs typeface="Dubai Light" panose="020B0303030403030204" pitchFamily="34" charset="-78"/>
                                </a:rPr>
                                <m:t>8 </m:t>
                              </m:r>
                              <m:r>
                                <m:rPr>
                                  <m:sty m:val="p"/>
                                </m:rPr>
                                <a:rPr lang="fr-CA" sz="1600">
                                  <a:latin typeface="Cambria Math" panose="02040503050406030204" pitchFamily="18" charset="0"/>
                                  <a:cs typeface="Dubai Light" panose="020B0303030403030204" pitchFamily="34" charset="-78"/>
                                </a:rPr>
                                <m:t>bits</m:t>
                              </m:r>
                              <m:r>
                                <a:rPr lang="fr-CA" sz="1600" b="0" i="1" smtClean="0">
                                  <a:latin typeface="Cambria Math" panose="02040503050406030204" pitchFamily="18" charset="0"/>
                                  <a:cs typeface="Dubai Light" panose="020B0303030403030204" pitchFamily="34" charset="-78"/>
                                </a:rPr>
                                <m:t>⋅100×</m:t>
                              </m:r>
                              <m:sSup>
                                <m:sSupPr>
                                  <m:ctrlPr>
                                    <a:rPr lang="fr-CA" sz="1600" b="0" i="1" smtClean="0">
                                      <a:latin typeface="Cambria Math" panose="02040503050406030204" pitchFamily="18" charset="0"/>
                                      <a:cs typeface="Dubai Light" panose="020B0303030403030204" pitchFamily="34" charset="-78"/>
                                    </a:rPr>
                                  </m:ctrlPr>
                                </m:sSupPr>
                                <m:e>
                                  <m:r>
                                    <a:rPr lang="fr-CA" sz="1600" b="0" i="1" smtClean="0">
                                      <a:latin typeface="Cambria Math" panose="02040503050406030204" pitchFamily="18" charset="0"/>
                                      <a:cs typeface="Dubai Light" panose="020B0303030403030204" pitchFamily="34" charset="-78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fr-CA" sz="1600" b="0" i="1" smtClean="0">
                                      <a:latin typeface="Cambria Math" panose="02040503050406030204" pitchFamily="18" charset="0"/>
                                      <a:cs typeface="Dubai Light" panose="020B0303030403030204" pitchFamily="34" charset="-78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fr-CA" sz="1600" b="0" i="1" smtClean="0">
                                  <a:latin typeface="Cambria Math" panose="02040503050406030204" pitchFamily="18" charset="0"/>
                                  <a:cs typeface="Dubai Light" panose="020B0303030403030204" pitchFamily="34" charset="-78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fr-CA" sz="1600" b="0" i="0" smtClean="0">
                                      <a:latin typeface="Cambria Math" panose="02040503050406030204" pitchFamily="18" charset="0"/>
                                      <a:cs typeface="Dubai Light" panose="020B0303030403030204" pitchFamily="34" charset="-78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CA" sz="1600" b="0" i="0" smtClean="0">
                                      <a:latin typeface="Cambria Math" panose="02040503050406030204" pitchFamily="18" charset="0"/>
                                      <a:cs typeface="Dubai Light" panose="020B0303030403030204" pitchFamily="34" charset="-78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lang="fr-CA" sz="1600" b="0" i="0" smtClean="0">
                                      <a:latin typeface="Cambria Math" panose="02040503050406030204" pitchFamily="18" charset="0"/>
                                      <a:cs typeface="Dubai Light" panose="020B0303030403030204" pitchFamily="34" charset="-78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fr-CA" sz="1600" b="0" i="1" smtClean="0">
                          <a:latin typeface="Cambria Math" panose="02040503050406030204" pitchFamily="18" charset="0"/>
                          <a:cs typeface="Dubai Light" panose="020B0303030403030204" pitchFamily="34" charset="-78"/>
                        </a:rPr>
                        <m:t>=640 </m:t>
                      </m:r>
                      <m:r>
                        <m:rPr>
                          <m:sty m:val="p"/>
                        </m:rPr>
                        <a:rPr lang="fr-CA" sz="1600" b="0" i="0" smtClean="0">
                          <a:latin typeface="Cambria Math" panose="02040503050406030204" pitchFamily="18" charset="0"/>
                          <a:cs typeface="Dubai Light" panose="020B0303030403030204" pitchFamily="34" charset="-78"/>
                        </a:rPr>
                        <m:t>s</m:t>
                      </m:r>
                      <m:r>
                        <a:rPr lang="fr-CA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Dubai Light" panose="020B0303030403030204" pitchFamily="34" charset="-78"/>
                        </a:rPr>
                        <m:t>→10 </m:t>
                      </m:r>
                      <m:r>
                        <m:rPr>
                          <m:sty m:val="p"/>
                        </m:rPr>
                        <a:rPr lang="fr-CA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Dubai Light" panose="020B0303030403030204" pitchFamily="34" charset="-78"/>
                        </a:rPr>
                        <m:t>min</m:t>
                      </m:r>
                      <m:r>
                        <a:rPr lang="fr-CA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Dubai Light" panose="020B0303030403030204" pitchFamily="34" charset="-78"/>
                        </a:rPr>
                        <m:t> 40 </m:t>
                      </m:r>
                      <m:r>
                        <m:rPr>
                          <m:sty m:val="p"/>
                        </m:rPr>
                        <a:rPr lang="fr-CA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Dubai Light" panose="020B0303030403030204" pitchFamily="34" charset="-78"/>
                        </a:rPr>
                        <m:t>s</m:t>
                      </m:r>
                    </m:oMath>
                  </m:oMathPara>
                </a14:m>
                <a:endParaRPr lang="fr-CA" sz="1600" dirty="0">
                  <a:latin typeface="Dubai Light" panose="020B0303030403030204" pitchFamily="34" charset="-78"/>
                  <a:cs typeface="Dubai Light" panose="020B0303030403030204" pitchFamily="34" charset="-78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E58D4-6245-F2C5-8CBA-CEED2BBF9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2587752"/>
                <a:ext cx="7686862" cy="3593592"/>
              </a:xfrm>
              <a:prstGeom prst="rect">
                <a:avLst/>
              </a:prstGeom>
              <a:blipFill>
                <a:blip r:embed="rId3"/>
                <a:stretch>
                  <a:fillRect l="-476" r="-476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1028" name="Picture 4" descr="Complex Math Formulas On Whiteboard Mathematics And Science With Economics  Stock Photo - Download Image Now - iStock">
            <a:extLst>
              <a:ext uri="{FF2B5EF4-FFF2-40B4-BE49-F238E27FC236}">
                <a16:creationId xmlns:a16="http://schemas.microsoft.com/office/drawing/2014/main" id="{93B745BD-DAEF-AB6F-E46A-0546A4497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6177" y="4740186"/>
            <a:ext cx="2702655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390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EXERCICE 1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7C42CC-1661-E0E8-F893-CCF55FFAA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	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E58D4-6245-F2C5-8CBA-CEED2BBF9B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0120" y="2587752"/>
                <a:ext cx="7686862" cy="3593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1000"/>
                  </a:lnSpc>
                  <a:spcBef>
                    <a:spcPts val="700"/>
                  </a:spcBef>
                  <a:spcAft>
                    <a:spcPts val="700"/>
                  </a:spcAft>
                  <a:buFont typeface="Arial" panose="020B0604020202020204" pitchFamily="34" charset="0"/>
                  <a:buNone/>
                  <a:defRPr sz="260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74320" indent="-274320" algn="l" defTabSz="914400" rtl="0" eaLnBrk="1" latinLnBrk="0" hangingPunct="1">
                  <a:lnSpc>
                    <a:spcPct val="101000"/>
                  </a:lnSpc>
                  <a:spcBef>
                    <a:spcPts val="400"/>
                  </a:spcBef>
                  <a:spcAft>
                    <a:spcPts val="400"/>
                  </a:spcAft>
                  <a:buClrTx/>
                  <a:buFont typeface="Wingdings" panose="05000000000000000000" pitchFamily="2" charset="2"/>
                  <a:buChar char="§"/>
                  <a:defRPr sz="230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274320" indent="0" algn="l" defTabSz="914400" rtl="0" eaLnBrk="1" latinLnBrk="0" hangingPunct="1">
                  <a:lnSpc>
                    <a:spcPct val="101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800" b="1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274320" algn="l" defTabSz="914400" rtl="0" eaLnBrk="1" latinLnBrk="0" hangingPunct="1">
                  <a:lnSpc>
                    <a:spcPct val="101000"/>
                  </a:lnSpc>
                  <a:spcBef>
                    <a:spcPts val="400"/>
                  </a:spcBef>
                  <a:spcAft>
                    <a:spcPts val="400"/>
                  </a:spcAft>
                  <a:buClrTx/>
                  <a:buFont typeface="Wingdings" panose="05000000000000000000" pitchFamily="2" charset="2"/>
                  <a:buChar char="§"/>
                  <a:defRPr sz="180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94360" indent="0" algn="l" defTabSz="914400" rtl="0" eaLnBrk="1" latinLnBrk="0" hangingPunct="1">
                  <a:lnSpc>
                    <a:spcPct val="101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800" b="1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14000"/>
                  </a:lnSpc>
                </a:pP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Quelle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est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la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largeur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(</a:t>
                </a:r>
                <a14:m>
                  <m:oMath xmlns:m="http://schemas.openxmlformats.org/officeDocument/2006/math">
                    <m:r>
                      <a:rPr lang="fr-CA" sz="1600" b="0" i="1" smtClean="0">
                        <a:latin typeface="Cambria Math" panose="02040503050406030204" pitchFamily="18" charset="0"/>
                        <a:cs typeface="Dubai Light" panose="020B0303030403030204" pitchFamily="34" charset="-78"/>
                      </a:rPr>
                      <m:t>𝑤</m:t>
                    </m:r>
                  </m:oMath>
                </a14:m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)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requise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d’un bus qui doit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être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capable de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transférer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des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quantités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de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données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allant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de 125 x 10</a:t>
                </a:r>
                <a:r>
                  <a:rPr lang="fr-CA" sz="1600" baseline="300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6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à 485 x 10</a:t>
                </a:r>
                <a:r>
                  <a:rPr lang="fr-CA" sz="1600" baseline="300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9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bits sans que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l’utilisateur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-trice </a:t>
                </a:r>
                <a:r>
                  <a:rPr lang="fr-CA" sz="1600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n’attende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plus de 5 minutes. </a:t>
                </a:r>
                <a:r>
                  <a:rPr lang="fr-CA" sz="1600" b="1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La </a:t>
                </a:r>
                <a:r>
                  <a:rPr lang="fr-CA" sz="1600" b="1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largeur</a:t>
                </a:r>
                <a:r>
                  <a:rPr lang="fr-CA" sz="1600" b="1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doit </a:t>
                </a:r>
                <a:r>
                  <a:rPr lang="fr-CA" sz="1600" b="1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être</a:t>
                </a:r>
                <a:r>
                  <a:rPr lang="fr-CA" sz="1600" b="1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</a:t>
                </a:r>
                <a:r>
                  <a:rPr lang="fr-CA" sz="1600" b="1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une</a:t>
                </a:r>
                <a:r>
                  <a:rPr lang="fr-CA" sz="1600" b="1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puissance de 2 </a:t>
                </a:r>
                <a:r>
                  <a:rPr lang="fr-CA" sz="1600" b="1" dirty="0" err="1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située</a:t>
                </a:r>
                <a:r>
                  <a:rPr lang="fr-CA" sz="1600" b="1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entre 8 et 64 bits.</a:t>
                </a:r>
              </a:p>
              <a:p>
                <a:pPr algn="just">
                  <a:lnSpc>
                    <a:spcPct val="114000"/>
                  </a:lnSpc>
                </a:pPr>
                <a:endParaRPr lang="fr-CA" sz="100" dirty="0">
                  <a:latin typeface="Dubai Light" panose="020B0303030403030204" pitchFamily="34" charset="-78"/>
                  <a:cs typeface="Dubai Light" panose="020B0303030403030204" pitchFamily="34" charset="-78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E58D4-6245-F2C5-8CBA-CEED2BBF9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2587752"/>
                <a:ext cx="7686862" cy="3593592"/>
              </a:xfrm>
              <a:prstGeom prst="rect">
                <a:avLst/>
              </a:prstGeom>
              <a:blipFill>
                <a:blip r:embed="rId3"/>
                <a:stretch>
                  <a:fillRect l="-476" r="-476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1028" name="Picture 4" descr="Complex Math Formulas On Whiteboard Mathematics And Science With Economics  Stock Photo - Download Image Now - iStock">
            <a:extLst>
              <a:ext uri="{FF2B5EF4-FFF2-40B4-BE49-F238E27FC236}">
                <a16:creationId xmlns:a16="http://schemas.microsoft.com/office/drawing/2014/main" id="{93B745BD-DAEF-AB6F-E46A-0546A4497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6177" y="4740186"/>
            <a:ext cx="2702655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8288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725EFA61-F0F8-4F4A-B750-81EE924F1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4" y="0"/>
            <a:ext cx="7534655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0811" y="317500"/>
            <a:ext cx="5927576" cy="1701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sz="4500" kern="1200" cap="all" spc="12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QU’EST-CE QU’UN BIT?</a:t>
            </a:r>
          </a:p>
        </p:txBody>
      </p:sp>
      <p:pic>
        <p:nvPicPr>
          <p:cNvPr id="1026" name="Picture 2" descr="Claude Shannon: Juggling Unicyclist Who Changed the World | Time">
            <a:extLst>
              <a:ext uri="{FF2B5EF4-FFF2-40B4-BE49-F238E27FC236}">
                <a16:creationId xmlns:a16="http://schemas.microsoft.com/office/drawing/2014/main" id="{55547100-1C99-0C5A-3CFA-3C3ED0E82E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27" r="12757" b="-1"/>
          <a:stretch/>
        </p:blipFill>
        <p:spPr bwMode="auto">
          <a:xfrm>
            <a:off x="20" y="10"/>
            <a:ext cx="465732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E58D4-6245-F2C5-8CBA-CEED2BBF9BD5}"/>
              </a:ext>
            </a:extLst>
          </p:cNvPr>
          <p:cNvSpPr txBox="1">
            <a:spLocks/>
          </p:cNvSpPr>
          <p:nvPr/>
        </p:nvSpPr>
        <p:spPr>
          <a:xfrm>
            <a:off x="5300810" y="2587625"/>
            <a:ext cx="5927577" cy="35941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“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L’information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,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c’est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la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résolution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de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l’incertitude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.”</a:t>
            </a:r>
            <a:b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</a:b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- Claude Shannon </a:t>
            </a:r>
          </a:p>
          <a:p>
            <a:pPr marL="285750" indent="-285750" algn="just">
              <a:lnSpc>
                <a:spcPct val="91000"/>
              </a:lnSpc>
              <a:buFont typeface="Arial" panose="020B0604020202020204" pitchFamily="34" charset="0"/>
              <a:buChar char="•"/>
            </a:pPr>
            <a:endParaRPr lang="fr-CA" sz="1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marL="285750" indent="-285750" algn="just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Contraction de “binary digit” qui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signifie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“chiffre </a:t>
            </a:r>
            <a:r>
              <a:rPr lang="fr-CA" sz="1600" b="1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binaire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”.</a:t>
            </a:r>
          </a:p>
          <a:p>
            <a:pPr marL="285750" indent="-285750" algn="just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Unité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de base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d’</a:t>
            </a:r>
            <a:r>
              <a:rPr lang="fr-CA" sz="1600" b="1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information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en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informatique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</a:p>
          <a:p>
            <a:pPr marL="285750" indent="-285750" algn="just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Donnée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qui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prend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une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de deux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valeurs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: 0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ou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1.</a:t>
            </a:r>
          </a:p>
          <a:p>
            <a:pPr marL="285750" indent="-285750" algn="just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Dichotomies :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ouvert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/fermé,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allumé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/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éteint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,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vrai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/faux, etc.</a:t>
            </a:r>
          </a:p>
          <a:p>
            <a:pPr marL="285750" indent="-285750" algn="just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Un nombre binaire est composé de plusieurs bits en série.</a:t>
            </a:r>
          </a:p>
          <a:p>
            <a:pPr marL="285750" indent="-285750" algn="just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On parle plutôt d’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octets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ou « bytes » qui correspond à 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8 bits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</a:p>
        </p:txBody>
      </p:sp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38858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ORDRES DE GRANDEUR</a:t>
            </a:r>
          </a:p>
        </p:txBody>
      </p:sp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BF809E4E-ACBF-800B-A37A-EA07732400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6482723"/>
                  </p:ext>
                </p:extLst>
              </p:nvPr>
            </p:nvGraphicFramePr>
            <p:xfrm>
              <a:off x="2030476" y="2694770"/>
              <a:ext cx="8662400" cy="333756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41332318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48252189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98411147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769548848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1246857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 err="1">
                              <a:solidFill>
                                <a:schemeClr val="bg1"/>
                              </a:solidFill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Symbole</a:t>
                          </a:r>
                          <a:endParaRPr lang="fr-CA" dirty="0">
                            <a:solidFill>
                              <a:schemeClr val="bg1"/>
                            </a:solidFill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 err="1">
                              <a:solidFill>
                                <a:schemeClr val="bg1"/>
                              </a:solidFill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Pr</a:t>
                          </a:r>
                          <a:r>
                            <a:rPr lang="en-US" dirty="0" err="1">
                              <a:solidFill>
                                <a:schemeClr val="bg1"/>
                              </a:solidFill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éfixe</a:t>
                          </a:r>
                          <a:endParaRPr lang="fr-CA" dirty="0">
                            <a:solidFill>
                              <a:schemeClr val="bg1"/>
                            </a:solidFill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Base 10</a:t>
                          </a:r>
                          <a:endParaRPr lang="fr-CA" dirty="0">
                            <a:solidFill>
                              <a:schemeClr val="bg1"/>
                            </a:solidFill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Base 2</a:t>
                          </a:r>
                          <a:endParaRPr lang="fr-CA" dirty="0">
                            <a:solidFill>
                              <a:schemeClr val="bg1"/>
                            </a:solidFill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Équivalence</a:t>
                          </a:r>
                          <a:endParaRPr lang="fr-CA" dirty="0">
                            <a:solidFill>
                              <a:schemeClr val="bg1"/>
                            </a:solidFill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76210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Kilo</a:t>
                          </a:r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 1024</m:t>
                                </m:r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26482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Méga</a:t>
                          </a:r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20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1048576</m:t>
                                </m:r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08996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Giga</a:t>
                          </a:r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30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1073741824</m:t>
                                </m:r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3130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Tera</a:t>
                          </a:r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12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40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1099511267776</m:t>
                                </m:r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75709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804812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milli</a:t>
                          </a:r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0.001</m:t>
                                </m:r>
                              </m:oMath>
                            </m:oMathPara>
                          </a14:m>
                          <a:endParaRPr lang="fr-CA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36123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micro</a:t>
                          </a:r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−6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0.000001</m:t>
                                </m:r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453646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nano</a:t>
                          </a:r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Dubai Light" panose="020B0303030403030204" pitchFamily="34" charset="-78"/>
                                      </a:rPr>
                                      <m:t>−9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Dubai Light" panose="020B0303030403030204" pitchFamily="34" charset="-78"/>
                                  </a:rPr>
                                  <m:t>0.000000001</m:t>
                                </m:r>
                              </m:oMath>
                            </m:oMathPara>
                          </a14:m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91999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BF809E4E-ACBF-800B-A37A-EA07732400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6482723"/>
                  </p:ext>
                </p:extLst>
              </p:nvPr>
            </p:nvGraphicFramePr>
            <p:xfrm>
              <a:off x="2030476" y="2694770"/>
              <a:ext cx="8662400" cy="333756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41332318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48252189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98411147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769548848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1246857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 err="1">
                              <a:solidFill>
                                <a:schemeClr val="bg1"/>
                              </a:solidFill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Symbole</a:t>
                          </a:r>
                          <a:endParaRPr lang="fr-CA" dirty="0">
                            <a:solidFill>
                              <a:schemeClr val="bg1"/>
                            </a:solidFill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 err="1">
                              <a:solidFill>
                                <a:schemeClr val="bg1"/>
                              </a:solidFill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Pr</a:t>
                          </a:r>
                          <a:r>
                            <a:rPr lang="en-US" dirty="0" err="1">
                              <a:solidFill>
                                <a:schemeClr val="bg1"/>
                              </a:solidFill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éfixe</a:t>
                          </a:r>
                          <a:endParaRPr lang="fr-CA" dirty="0">
                            <a:solidFill>
                              <a:schemeClr val="bg1"/>
                            </a:solidFill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Base 10</a:t>
                          </a:r>
                          <a:endParaRPr lang="fr-CA" dirty="0">
                            <a:solidFill>
                              <a:schemeClr val="bg1"/>
                            </a:solidFill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Base 2</a:t>
                          </a:r>
                          <a:endParaRPr lang="fr-CA" dirty="0">
                            <a:solidFill>
                              <a:schemeClr val="bg1"/>
                            </a:solidFill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Équivalence</a:t>
                          </a:r>
                          <a:endParaRPr lang="fr-CA" dirty="0">
                            <a:solidFill>
                              <a:schemeClr val="bg1"/>
                            </a:solidFill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76210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5" t="-108197" r="-433708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Kilo</a:t>
                          </a:r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375" t="-108197" r="-233708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504" t="-108197" r="-134586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845" t="-108197" r="-845" b="-7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6482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5" t="-208197" r="-433708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Méga</a:t>
                          </a:r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375" t="-208197" r="-233708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504" t="-208197" r="-134586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845" t="-208197" r="-845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08996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5" t="-308197" r="-433708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Giga</a:t>
                          </a:r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375" t="-308197" r="-233708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504" t="-308197" r="-134586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845" t="-308197" r="-84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3130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5" t="-415000" r="-433708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Tera</a:t>
                          </a:r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375" t="-415000" r="-233708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504" t="-415000" r="-134586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845" t="-415000" r="-845" b="-4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5709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804812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5" t="-606557" r="-433708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milli</a:t>
                          </a:r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375" t="-606557" r="-233708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504" t="-606557" r="-134586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845" t="-606557" r="-845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36123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5" t="-706557" r="-433708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micro</a:t>
                          </a:r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375" t="-706557" r="-233708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504" t="-706557" r="-134586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845" t="-706557" r="-845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53646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5" t="-806557" r="-43370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nano</a:t>
                          </a:r>
                          <a:endParaRPr lang="fr-CA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375" t="-806557" r="-23370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504" t="-806557" r="-13458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845" t="-806557" r="-845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1999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07798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EXERCICE 3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7C42CC-1661-E0E8-F893-CCF55FFAA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E58D4-6245-F2C5-8CBA-CEED2BBF9BD5}"/>
              </a:ext>
            </a:extLst>
          </p:cNvPr>
          <p:cNvSpPr txBox="1">
            <a:spLocks/>
          </p:cNvSpPr>
          <p:nvPr/>
        </p:nvSpPr>
        <p:spPr>
          <a:xfrm>
            <a:off x="960120" y="2587752"/>
            <a:ext cx="7686862" cy="3593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Sachant qu’il y a 8 bits dans un octet, combien y a-t-il de bits dans une mémoire de 512 mégaoctets?</a:t>
            </a:r>
          </a:p>
        </p:txBody>
      </p:sp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4" name="Picture 4" descr="Complex Math Formulas On Whiteboard Mathematics And Science With Economics  Stock Photo - Download Image Now - iStock">
            <a:extLst>
              <a:ext uri="{FF2B5EF4-FFF2-40B4-BE49-F238E27FC236}">
                <a16:creationId xmlns:a16="http://schemas.microsoft.com/office/drawing/2014/main" id="{8F3FACF9-36DB-B551-8A4E-9B8CB4308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6177" y="4740186"/>
            <a:ext cx="2702655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9692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MÉMOIRE INFORMATIQUE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E58D4-6245-F2C5-8CBA-CEED2BBF9BD5}"/>
              </a:ext>
            </a:extLst>
          </p:cNvPr>
          <p:cNvSpPr txBox="1">
            <a:spLocks/>
          </p:cNvSpPr>
          <p:nvPr/>
        </p:nvSpPr>
        <p:spPr>
          <a:xfrm>
            <a:off x="960120" y="2587752"/>
            <a:ext cx="7686862" cy="3593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Dispositif capable d’enregistrer, de conserver et de restituer des informations.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L’information est stockée en binaire (c.-à-d. en bits).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Caractéristiques principales :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300" dirty="0">
                <a:latin typeface="Dubai Light" panose="020B0303030403030204" pitchFamily="34" charset="-78"/>
                <a:cs typeface="Dubai Light" panose="020B0303030403030204" pitchFamily="34" charset="-78"/>
              </a:rPr>
              <a:t>Volatilité (</a:t>
            </a:r>
            <a:r>
              <a:rPr lang="fr-CA" sz="13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RAM</a:t>
            </a:r>
            <a:r>
              <a:rPr lang="fr-CA" sz="1300" dirty="0">
                <a:latin typeface="Dubai Light" panose="020B0303030403030204" pitchFamily="34" charset="-78"/>
                <a:cs typeface="Dubai Light" panose="020B0303030403030204" pitchFamily="34" charset="-78"/>
              </a:rPr>
              <a:t>, </a:t>
            </a:r>
            <a:r>
              <a:rPr lang="fr-CA" sz="13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ROM</a:t>
            </a:r>
            <a:r>
              <a:rPr lang="fr-CA" sz="1300" dirty="0">
                <a:latin typeface="Dubai Light" panose="020B0303030403030204" pitchFamily="34" charset="-78"/>
                <a:cs typeface="Dubai Light" panose="020B0303030403030204" pitchFamily="34" charset="-78"/>
              </a:rPr>
              <a:t>).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300" dirty="0">
                <a:latin typeface="Dubai Light" panose="020B0303030403030204" pitchFamily="34" charset="-78"/>
                <a:cs typeface="Dubai Light" panose="020B0303030403030204" pitchFamily="34" charset="-78"/>
              </a:rPr>
              <a:t>Capacité mesurée en octets (Go, Mo, Ko).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300" dirty="0">
                <a:latin typeface="Dubai Light" panose="020B0303030403030204" pitchFamily="34" charset="-78"/>
                <a:cs typeface="Dubai Light" panose="020B0303030403030204" pitchFamily="34" charset="-78"/>
              </a:rPr>
              <a:t>Temps d’accès ou fréquence mesurée en </a:t>
            </a:r>
            <a:r>
              <a:rPr lang="fr-CA" sz="13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cycles d’horloge </a:t>
            </a:r>
            <a:r>
              <a:rPr lang="fr-CA" sz="1300" dirty="0">
                <a:latin typeface="Dubai Light" panose="020B0303030403030204" pitchFamily="34" charset="-78"/>
                <a:cs typeface="Dubai Light" panose="020B0303030403030204" pitchFamily="34" charset="-78"/>
              </a:rPr>
              <a:t>(Hz ou s</a:t>
            </a:r>
            <a:r>
              <a:rPr lang="fr-CA" sz="1300" baseline="30000" dirty="0">
                <a:latin typeface="Dubai Light" panose="020B0303030403030204" pitchFamily="34" charset="-78"/>
                <a:cs typeface="Dubai Light" panose="020B0303030403030204" pitchFamily="34" charset="-78"/>
              </a:rPr>
              <a:t>-1</a:t>
            </a:r>
            <a:r>
              <a:rPr lang="fr-CA" sz="1300" dirty="0">
                <a:latin typeface="Dubai Light" panose="020B0303030403030204" pitchFamily="34" charset="-78"/>
                <a:cs typeface="Dubai Light" panose="020B0303030403030204" pitchFamily="34" charset="-78"/>
              </a:rPr>
              <a:t>).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300" dirty="0">
                <a:latin typeface="Dubai Light" panose="020B0303030403030204" pitchFamily="34" charset="-78"/>
                <a:cs typeface="Dubai Light" panose="020B0303030403030204" pitchFamily="34" charset="-78"/>
              </a:rPr>
              <a:t>Bande passante mesurée en octets par seconde.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300" dirty="0">
                <a:latin typeface="Dubai Light" panose="020B0303030403030204" pitchFamily="34" charset="-78"/>
                <a:cs typeface="Dubai Light" panose="020B0303030403030204" pitchFamily="34" charset="-78"/>
              </a:rPr>
              <a:t>Coût par bit.</a:t>
            </a: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4" name="Image 6">
            <a:extLst>
              <a:ext uri="{FF2B5EF4-FFF2-40B4-BE49-F238E27FC236}">
                <a16:creationId xmlns:a16="http://schemas.microsoft.com/office/drawing/2014/main" id="{C480188A-44C3-93A1-EA44-B8DD1A0F4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194" y="3484548"/>
            <a:ext cx="3897638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09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MÉMOIRE ÉLECTRONIQUE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7C42CC-1661-E0E8-F893-CCF55FFAA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E58D4-6245-F2C5-8CBA-CEED2BBF9BD5}"/>
              </a:ext>
            </a:extLst>
          </p:cNvPr>
          <p:cNvSpPr txBox="1">
            <a:spLocks/>
          </p:cNvSpPr>
          <p:nvPr/>
        </p:nvSpPr>
        <p:spPr>
          <a:xfrm>
            <a:off x="960120" y="2587752"/>
            <a:ext cx="7686862" cy="3593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Une mémoire d’un bit se construit physiquement avec des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portes logiques NAND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Une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porte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NAND se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construit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physiquement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avec des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transistors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Un transistor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est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un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composant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électronique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qui agit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comme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b="1" dirty="0" err="1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interrupteur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ou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b="1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amplificateur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Les transistors utilisés dans la 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mémoire vive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sont passés d’une taille de ± 150 nm  en 1996 à ± 10 nm en 2018.</a:t>
            </a:r>
          </a:p>
        </p:txBody>
      </p:sp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7" name="Picture 2" descr="undefined">
            <a:extLst>
              <a:ext uri="{FF2B5EF4-FFF2-40B4-BE49-F238E27FC236}">
                <a16:creationId xmlns:a16="http://schemas.microsoft.com/office/drawing/2014/main" id="{CEBEE0C8-8D02-5AD5-19D1-065143A29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6890" y="3660186"/>
            <a:ext cx="2331942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237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HIÉRARCHIE DES MÉMOIRES</a:t>
            </a:r>
          </a:p>
        </p:txBody>
      </p:sp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12095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4" name="Picture 2" descr="Memory Hierarchy">
            <a:extLst>
              <a:ext uri="{FF2B5EF4-FFF2-40B4-BE49-F238E27FC236}">
                <a16:creationId xmlns:a16="http://schemas.microsoft.com/office/drawing/2014/main" id="{603FCE08-0E95-68A1-73EB-73C09B8450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24"/>
          <a:stretch/>
        </p:blipFill>
        <p:spPr bwMode="auto">
          <a:xfrm>
            <a:off x="524256" y="2672075"/>
            <a:ext cx="6705600" cy="371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6">
                <a:extLst>
                  <a:ext uri="{FF2B5EF4-FFF2-40B4-BE49-F238E27FC236}">
                    <a16:creationId xmlns:a16="http://schemas.microsoft.com/office/drawing/2014/main" id="{4FA2BF8F-4F3D-6838-73BF-8E815D760C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5906528"/>
                  </p:ext>
                </p:extLst>
              </p:nvPr>
            </p:nvGraphicFramePr>
            <p:xfrm>
              <a:off x="7347744" y="3601207"/>
              <a:ext cx="4320000" cy="1854200"/>
            </p:xfrm>
            <a:graphic>
              <a:graphicData uri="http://schemas.openxmlformats.org/drawingml/2006/table">
                <a:tbl>
                  <a:tblPr firstRow="1" bandRow="1">
                    <a:tableStyleId>{793D81CF-94F2-401A-BA57-92F5A7B2D0C5}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3785013499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3327861354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11546713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2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Nom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2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Temps d’accès [s]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2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Capacité </a:t>
                          </a:r>
                          <a:r>
                            <a:rPr lang="en-CA" sz="12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[bits]</a:t>
                          </a:r>
                          <a:endParaRPr lang="fr-CA" sz="1200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96348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2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Registres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1×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−9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sz="1200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1−512</m:t>
                                </m:r>
                              </m:oMath>
                            </m:oMathPara>
                          </a14:m>
                          <a:endParaRPr lang="fr-CA" sz="1200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0961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2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Caches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(10−100)×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−9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sz="1200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∝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sz="1200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650149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2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RAM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1×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−6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sz="1200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∝</m:t>
                                </m:r>
                                <m:sSup>
                                  <m:sSupPr>
                                    <m:ctrlPr>
                                      <a:rPr lang="en-CA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2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sz="1200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605904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2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Masse (HDD, SSD)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1×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sz="1200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∝</m:t>
                                </m:r>
                                <m:sSup>
                                  <m:sSupPr>
                                    <m:ctrlPr>
                                      <a:rPr lang="en-CA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200" b="0" i="1" smtClean="0">
                                        <a:latin typeface="Cambria Math" panose="02040503050406030204" pitchFamily="18" charset="0"/>
                                      </a:rPr>
                                      <m:t>100×10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sz="1200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137932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6">
                <a:extLst>
                  <a:ext uri="{FF2B5EF4-FFF2-40B4-BE49-F238E27FC236}">
                    <a16:creationId xmlns:a16="http://schemas.microsoft.com/office/drawing/2014/main" id="{4FA2BF8F-4F3D-6838-73BF-8E815D760C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5906528"/>
                  </p:ext>
                </p:extLst>
              </p:nvPr>
            </p:nvGraphicFramePr>
            <p:xfrm>
              <a:off x="7347744" y="3601207"/>
              <a:ext cx="4320000" cy="1854200"/>
            </p:xfrm>
            <a:graphic>
              <a:graphicData uri="http://schemas.openxmlformats.org/drawingml/2006/table">
                <a:tbl>
                  <a:tblPr firstRow="1" bandRow="1">
                    <a:tableStyleId>{793D81CF-94F2-401A-BA57-92F5A7B2D0C5}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3785013499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3327861354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11546713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2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Nom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2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Temps d’accès [s]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2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Capacité </a:t>
                          </a:r>
                          <a:r>
                            <a:rPr lang="en-CA" sz="12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[bits]</a:t>
                          </a:r>
                          <a:endParaRPr lang="fr-CA" sz="1200" dirty="0">
                            <a:latin typeface="Dubai Light" panose="020B0303030403030204" pitchFamily="34" charset="-78"/>
                            <a:cs typeface="Dubai Light" panose="020B0303030403030204" pitchFamily="34" charset="-7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96348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2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Registres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01639" r="-100844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847" t="-101639" r="-1271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0961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2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Caches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01639" r="-100844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847" t="-201639" r="-1271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50149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2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RAM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301639" r="-100844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847" t="-301639" r="-1271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05904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200" dirty="0">
                              <a:latin typeface="Dubai Light" panose="020B0303030403030204" pitchFamily="34" charset="-78"/>
                              <a:cs typeface="Dubai Light" panose="020B0303030403030204" pitchFamily="34" charset="-78"/>
                            </a:rPr>
                            <a:t>Masse (HDD, SSD)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401639" r="-100844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847" t="-401639" r="-1271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37932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36F2A96-5B7C-2CBF-265A-96D9455AB6EE}"/>
              </a:ext>
            </a:extLst>
          </p:cNvPr>
          <p:cNvSpPr txBox="1"/>
          <p:nvPr/>
        </p:nvSpPr>
        <p:spPr>
          <a:xfrm>
            <a:off x="524256" y="6384539"/>
            <a:ext cx="670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12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Source : </a:t>
            </a:r>
            <a:r>
              <a:rPr lang="fr-CA" sz="12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Runestone</a:t>
            </a:r>
            <a:r>
              <a:rPr lang="fr-CA" sz="12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2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Academy</a:t>
            </a:r>
            <a:r>
              <a:rPr lang="fr-CA" sz="1200" dirty="0">
                <a:latin typeface="Dubai Light" panose="020B0303030403030204" pitchFamily="34" charset="-78"/>
                <a:cs typeface="Dubai Light" panose="020B0303030403030204" pitchFamily="34" charset="-78"/>
              </a:rPr>
              <a:t> (</a:t>
            </a:r>
            <a:r>
              <a:rPr lang="fr-CA" sz="1200" dirty="0">
                <a:latin typeface="Dubai Light" panose="020B0303030403030204" pitchFamily="34" charset="-78"/>
                <a:cs typeface="Dubai Light" panose="020B0303030403030204" pitchFamily="34" charset="-78"/>
                <a:hlinkClick r:id="rId5"/>
              </a:rPr>
              <a:t>cliquez ici</a:t>
            </a:r>
            <a:r>
              <a:rPr lang="fr-CA" sz="1200" dirty="0">
                <a:latin typeface="Dubai Light" panose="020B0303030403030204" pitchFamily="34" charset="-78"/>
                <a:cs typeface="Dubai Light" panose="020B0303030403030204" pitchFamily="34" charset="-7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95497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REGISTRES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E58D4-6245-F2C5-8CBA-CEED2BBF9B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0120" y="2587752"/>
                <a:ext cx="7686862" cy="3593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1000"/>
                  </a:lnSpc>
                  <a:spcBef>
                    <a:spcPts val="700"/>
                  </a:spcBef>
                  <a:spcAft>
                    <a:spcPts val="700"/>
                  </a:spcAft>
                  <a:buFont typeface="Arial" panose="020B0604020202020204" pitchFamily="34" charset="0"/>
                  <a:buNone/>
                  <a:defRPr sz="260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74320" indent="-274320" algn="l" defTabSz="914400" rtl="0" eaLnBrk="1" latinLnBrk="0" hangingPunct="1">
                  <a:lnSpc>
                    <a:spcPct val="101000"/>
                  </a:lnSpc>
                  <a:spcBef>
                    <a:spcPts val="400"/>
                  </a:spcBef>
                  <a:spcAft>
                    <a:spcPts val="400"/>
                  </a:spcAft>
                  <a:buClrTx/>
                  <a:buFont typeface="Wingdings" panose="05000000000000000000" pitchFamily="2" charset="2"/>
                  <a:buChar char="§"/>
                  <a:defRPr sz="230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274320" indent="0" algn="l" defTabSz="914400" rtl="0" eaLnBrk="1" latinLnBrk="0" hangingPunct="1">
                  <a:lnSpc>
                    <a:spcPct val="101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800" b="1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274320" algn="l" defTabSz="914400" rtl="0" eaLnBrk="1" latinLnBrk="0" hangingPunct="1">
                  <a:lnSpc>
                    <a:spcPct val="101000"/>
                  </a:lnSpc>
                  <a:spcBef>
                    <a:spcPts val="400"/>
                  </a:spcBef>
                  <a:spcAft>
                    <a:spcPts val="400"/>
                  </a:spcAft>
                  <a:buClrTx/>
                  <a:buFont typeface="Wingdings" panose="05000000000000000000" pitchFamily="2" charset="2"/>
                  <a:buChar char="§"/>
                  <a:defRPr sz="180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94360" indent="0" algn="l" defTabSz="914400" rtl="0" eaLnBrk="1" latinLnBrk="0" hangingPunct="1">
                  <a:lnSpc>
                    <a:spcPct val="101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800" b="1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 algn="just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Stockage temporaire interne de l’UCT pour les données </a:t>
                </a:r>
                <a:r>
                  <a:rPr lang="fr-CA" sz="1600" b="1" dirty="0">
                    <a:solidFill>
                      <a:srgbClr val="FF0000"/>
                    </a:solidFill>
                    <a:latin typeface="Dubai Light" panose="020B0303030403030204" pitchFamily="34" charset="-78"/>
                    <a:cs typeface="Dubai Light" panose="020B0303030403030204" pitchFamily="34" charset="-78"/>
                  </a:rPr>
                  <a:t>en cours de traitement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.</a:t>
                </a:r>
              </a:p>
              <a:p>
                <a:pPr marL="285750" indent="-285750" algn="just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Optimisés pour la vitesse (</a:t>
                </a:r>
                <a:r>
                  <a:rPr lang="fr-CA" sz="1600" b="1" dirty="0">
                    <a:solidFill>
                      <a:srgbClr val="FF0000"/>
                    </a:solidFill>
                    <a:latin typeface="Dubai Light" panose="020B0303030403030204" pitchFamily="34" charset="-78"/>
                    <a:cs typeface="Dubai Light" panose="020B0303030403030204" pitchFamily="34" charset="-78"/>
                  </a:rPr>
                  <a:t>proximité physique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, architecture, matériaux, etc.).</a:t>
                </a:r>
              </a:p>
              <a:p>
                <a:pPr marL="285750" indent="-285750" algn="just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Capacité restreinte (1 – 512 bits) par l’</a:t>
                </a:r>
                <a:r>
                  <a:rPr lang="fr-CA" sz="1600" b="1" dirty="0">
                    <a:solidFill>
                      <a:srgbClr val="FF0000"/>
                    </a:solidFill>
                    <a:latin typeface="Dubai Light" panose="020B0303030403030204" pitchFamily="34" charset="-78"/>
                    <a:cs typeface="Dubai Light" panose="020B0303030403030204" pitchFamily="34" charset="-78"/>
                  </a:rPr>
                  <a:t>espace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et les </a:t>
                </a:r>
                <a:r>
                  <a:rPr lang="fr-CA" sz="1600" b="1" dirty="0">
                    <a:solidFill>
                      <a:srgbClr val="FF0000"/>
                    </a:solidFill>
                    <a:latin typeface="Dubai Light" panose="020B0303030403030204" pitchFamily="34" charset="-78"/>
                    <a:cs typeface="Dubai Light" panose="020B0303030403030204" pitchFamily="34" charset="-78"/>
                  </a:rPr>
                  <a:t>coûts élevés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.</a:t>
                </a:r>
              </a:p>
              <a:p>
                <a:pPr marL="285750" indent="-285750" algn="just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fr-CA" sz="1600" b="1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Exemple d’addition de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cs typeface="Dubai Light" panose="020B0303030403030204" pitchFamily="34" charset="-78"/>
                      </a:rPr>
                      <m:t>𝒙</m:t>
                    </m:r>
                  </m:oMath>
                </a14:m>
                <a:r>
                  <a:rPr lang="fr-CA" sz="1600" b="1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et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cs typeface="Dubai Light" panose="020B0303030403030204" pitchFamily="34" charset="-78"/>
                      </a:rPr>
                      <m:t>𝒚</m:t>
                    </m:r>
                  </m:oMath>
                </a14:m>
                <a:r>
                  <a:rPr lang="fr-CA" sz="1600" b="1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: </a:t>
                </a:r>
              </a:p>
              <a:p>
                <a:pPr marL="617220" lvl="1" indent="-342900" algn="ctr">
                  <a:lnSpc>
                    <a:spcPct val="114000"/>
                  </a:lnSpc>
                  <a:buFont typeface="+mj-lt"/>
                  <a:buAutoNum type="arabicPeriod"/>
                </a:pPr>
                <a:r>
                  <a:rPr lang="fr-CA" sz="13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Charger </a:t>
                </a:r>
                <a14:m>
                  <m:oMath xmlns:m="http://schemas.openxmlformats.org/officeDocument/2006/math">
                    <m:r>
                      <a:rPr lang="en-US" sz="1300" b="0" i="1" smtClean="0">
                        <a:latin typeface="Cambria Math" panose="02040503050406030204" pitchFamily="18" charset="0"/>
                        <a:cs typeface="Dubai Light" panose="020B0303030403030204" pitchFamily="34" charset="-78"/>
                      </a:rPr>
                      <m:t>𝑥</m:t>
                    </m:r>
                  </m:oMath>
                </a14:m>
                <a:r>
                  <a:rPr lang="fr-CA" sz="13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dans le registre </a:t>
                </a:r>
                <a14:m>
                  <m:oMath xmlns:m="http://schemas.openxmlformats.org/officeDocument/2006/math">
                    <m:r>
                      <a:rPr lang="en-US" sz="1300" b="0" i="1" smtClean="0">
                        <a:latin typeface="Cambria Math" panose="02040503050406030204" pitchFamily="18" charset="0"/>
                        <a:cs typeface="Dubai Light" panose="020B0303030403030204" pitchFamily="34" charset="-78"/>
                      </a:rPr>
                      <m:t>𝐴</m:t>
                    </m:r>
                  </m:oMath>
                </a14:m>
                <a:endParaRPr lang="fr-CA" sz="1300" dirty="0">
                  <a:latin typeface="Dubai Light" panose="020B0303030403030204" pitchFamily="34" charset="-78"/>
                  <a:cs typeface="Dubai Light" panose="020B0303030403030204" pitchFamily="34" charset="-78"/>
                </a:endParaRPr>
              </a:p>
              <a:p>
                <a:pPr marL="617220" lvl="1" indent="-342900" algn="just">
                  <a:lnSpc>
                    <a:spcPct val="114000"/>
                  </a:lnSpc>
                  <a:buFont typeface="+mj-lt"/>
                  <a:buAutoNum type="arabicPeriod"/>
                </a:pPr>
                <a:r>
                  <a:rPr lang="fr-CA" sz="13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Charger </a:t>
                </a:r>
                <a14:m>
                  <m:oMath xmlns:m="http://schemas.openxmlformats.org/officeDocument/2006/math">
                    <m:r>
                      <a:rPr lang="en-US" sz="1300" b="0" i="1" smtClean="0">
                        <a:latin typeface="Cambria Math" panose="02040503050406030204" pitchFamily="18" charset="0"/>
                        <a:cs typeface="Dubai Light" panose="020B0303030403030204" pitchFamily="34" charset="-78"/>
                      </a:rPr>
                      <m:t>𝑦</m:t>
                    </m:r>
                  </m:oMath>
                </a14:m>
                <a:r>
                  <a:rPr lang="fr-CA" sz="13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dans le registre </a:t>
                </a:r>
                <a14:m>
                  <m:oMath xmlns:m="http://schemas.openxmlformats.org/officeDocument/2006/math">
                    <m:r>
                      <a:rPr lang="en-US" sz="1300" b="0" i="1" smtClean="0">
                        <a:latin typeface="Cambria Math" panose="02040503050406030204" pitchFamily="18" charset="0"/>
                        <a:cs typeface="Dubai Light" panose="020B0303030403030204" pitchFamily="34" charset="-78"/>
                      </a:rPr>
                      <m:t>𝐵</m:t>
                    </m:r>
                  </m:oMath>
                </a14:m>
                <a:endParaRPr lang="fr-CA" sz="1300" dirty="0">
                  <a:latin typeface="Dubai Light" panose="020B0303030403030204" pitchFamily="34" charset="-78"/>
                  <a:cs typeface="Dubai Light" panose="020B0303030403030204" pitchFamily="34" charset="-78"/>
                </a:endParaRPr>
              </a:p>
              <a:p>
                <a:pPr marL="617220" lvl="1" indent="-342900" algn="just">
                  <a:lnSpc>
                    <a:spcPct val="114000"/>
                  </a:lnSpc>
                  <a:buFont typeface="+mj-lt"/>
                  <a:buAutoNum type="arabicPeriod"/>
                </a:pPr>
                <a:r>
                  <a:rPr lang="fr-CA" sz="13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L’UC achemine le code d’opération (+) vers un registre de l’UAL</a:t>
                </a:r>
              </a:p>
              <a:p>
                <a:pPr marL="617220" lvl="1" indent="-342900" algn="just">
                  <a:lnSpc>
                    <a:spcPct val="114000"/>
                  </a:lnSpc>
                  <a:buFont typeface="+mj-lt"/>
                  <a:buAutoNum type="arabicPeriod"/>
                </a:pPr>
                <a:r>
                  <a:rPr lang="fr-CA" sz="13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L’UAL effectue l’addition</a:t>
                </a:r>
              </a:p>
              <a:p>
                <a:pPr marL="617220" lvl="1" indent="-342900" algn="just">
                  <a:lnSpc>
                    <a:spcPct val="114000"/>
                  </a:lnSpc>
                  <a:buFont typeface="+mj-lt"/>
                  <a:buAutoNum type="arabicPeriod"/>
                </a:pPr>
                <a:r>
                  <a:rPr lang="fr-CA" sz="13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Le résultat est stocké dans le registre </a:t>
                </a:r>
                <a14:m>
                  <m:oMath xmlns:m="http://schemas.openxmlformats.org/officeDocument/2006/math">
                    <m:r>
                      <a:rPr lang="en-US" sz="1300" b="0" i="1" smtClean="0">
                        <a:latin typeface="Cambria Math" panose="02040503050406030204" pitchFamily="18" charset="0"/>
                        <a:cs typeface="Dubai Light" panose="020B0303030403030204" pitchFamily="34" charset="-78"/>
                      </a:rPr>
                      <m:t>𝐶</m:t>
                    </m:r>
                  </m:oMath>
                </a14:m>
                <a:r>
                  <a:rPr lang="fr-CA" sz="13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de l’UCT (par exemple)</a:t>
                </a:r>
                <a:endParaRPr lang="fr-CA" sz="1600" dirty="0">
                  <a:latin typeface="Dubai Light" panose="020B0303030403030204" pitchFamily="34" charset="-78"/>
                  <a:cs typeface="Dubai Light" panose="020B0303030403030204" pitchFamily="34" charset="-78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E58D4-6245-F2C5-8CBA-CEED2BBF9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2587752"/>
                <a:ext cx="7686862" cy="3593592"/>
              </a:xfrm>
              <a:prstGeom prst="rect">
                <a:avLst/>
              </a:prstGeom>
              <a:blipFill>
                <a:blip r:embed="rId3"/>
                <a:stretch>
                  <a:fillRect l="-317" t="-17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7" name="AutoShape 4" descr="6 Benefits to Using a Temporary Storage Solution">
            <a:extLst>
              <a:ext uri="{FF2B5EF4-FFF2-40B4-BE49-F238E27FC236}">
                <a16:creationId xmlns:a16="http://schemas.microsoft.com/office/drawing/2014/main" id="{7142DFCF-F2CA-7A47-D6F7-FA678BD355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1032" name="Picture 8" descr="CRAFTSMAN Small Parts Organizer - 30 Drawers - Polypropylene CMST40730 |  RONA">
            <a:extLst>
              <a:ext uri="{FF2B5EF4-FFF2-40B4-BE49-F238E27FC236}">
                <a16:creationId xmlns:a16="http://schemas.microsoft.com/office/drawing/2014/main" id="{BA074DB5-C4B4-13B8-930B-FCE42BD4C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91" b="14946"/>
          <a:stretch/>
        </p:blipFill>
        <p:spPr bwMode="auto">
          <a:xfrm>
            <a:off x="9135854" y="4740186"/>
            <a:ext cx="2632978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6093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MÉMOIRE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E58D4-6245-F2C5-8CBA-CEED2BBF9BD5}"/>
              </a:ext>
            </a:extLst>
          </p:cNvPr>
          <p:cNvSpPr txBox="1">
            <a:spLocks/>
          </p:cNvSpPr>
          <p:nvPr/>
        </p:nvSpPr>
        <p:spPr>
          <a:xfrm>
            <a:off x="960120" y="2587752"/>
            <a:ext cx="8104962" cy="3593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Mémoire</a:t>
            </a:r>
            <a:r>
              <a:rPr lang="fr-CA" sz="1600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tampon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entre le processeur et les mémoires moins rapides (RAM, SSD, etc.).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Stockage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temporaire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pour les données les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plus fréquemment utilisées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Qu’est-ce qu’on devrait y stocker?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Principe de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localité temporelle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Principe de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localité spatiale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Analogie du bureau et de la bibliothèque.</a:t>
            </a:r>
            <a:endParaRPr lang="fr-CA" sz="1300" b="1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2050" name="Picture 2" descr="the extreme bottleneck on this road : r/mildlyinfuriating">
            <a:extLst>
              <a:ext uri="{FF2B5EF4-FFF2-40B4-BE49-F238E27FC236}">
                <a16:creationId xmlns:a16="http://schemas.microsoft.com/office/drawing/2014/main" id="{4EC5CFB2-2FA7-D0F7-17F8-C091F40C8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5082" y="4740186"/>
            <a:ext cx="270375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1655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MÉMOIRE PRINCIPALE : MÉMOIRE VIVE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7C42CC-1661-E0E8-F893-CCF55FFAA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E58D4-6245-F2C5-8CBA-CEED2BBF9BD5}"/>
              </a:ext>
            </a:extLst>
          </p:cNvPr>
          <p:cNvSpPr txBox="1">
            <a:spLocks/>
          </p:cNvSpPr>
          <p:nvPr/>
        </p:nvSpPr>
        <p:spPr>
          <a:xfrm>
            <a:off x="960120" y="2587752"/>
            <a:ext cx="7686862" cy="3593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Stockage volatile pour les instructions et les données des programmes tels que le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système d’exploitation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et les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applications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  <a:endParaRPr lang="fr-CA" sz="13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On dit « </a:t>
            </a:r>
            <a:r>
              <a:rPr lang="fr-CA" sz="1600" b="1" dirty="0" err="1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random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b="1" dirty="0" err="1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access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memory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» ou RAM en référence à la 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capacité à accéder à n’importe quelle adresse mémoire sans faire de parcours séquentiel.</a:t>
            </a:r>
            <a:endParaRPr lang="fr-CA" sz="16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La « </a:t>
            </a:r>
            <a:r>
              <a:rPr lang="fr-CA" sz="1600" b="1" dirty="0" err="1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static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b="1" dirty="0" err="1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random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b="1" dirty="0" err="1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access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memory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 » ou SRAM fonctionne avec des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interrupteurs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(p. ex. mémoire cache).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La « 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dynamic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random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access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memory » ou DRAM fonctionne avec des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condensateurs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constamment alimentés et rafraîchis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(p. ex. barrette RAM).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La SRAM est 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plus rapide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et 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consomme moins d’électricité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que la DRAM, mais elle 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coûte plus cher.</a:t>
            </a:r>
          </a:p>
        </p:txBody>
      </p:sp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9" name="Picture 6" descr="How to Reseat a Desktop Memory Module">
            <a:extLst>
              <a:ext uri="{FF2B5EF4-FFF2-40B4-BE49-F238E27FC236}">
                <a16:creationId xmlns:a16="http://schemas.microsoft.com/office/drawing/2014/main" id="{CEFE504D-A8D6-F259-6DBB-D6C3A4766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8832" y="4740186"/>
            <a:ext cx="27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6352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/>
              <a:t>C</a:t>
            </a:r>
            <a:r>
              <a:rPr lang="fr-CA" sz="4500" dirty="0"/>
              <a:t>HOISIR/AJOUTER de la 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E58D4-6245-F2C5-8CBA-CEED2BBF9BD5}"/>
              </a:ext>
            </a:extLst>
          </p:cNvPr>
          <p:cNvSpPr txBox="1">
            <a:spLocks/>
          </p:cNvSpPr>
          <p:nvPr/>
        </p:nvSpPr>
        <p:spPr>
          <a:xfrm>
            <a:off x="960120" y="2587752"/>
            <a:ext cx="7686862" cy="3593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600">
                <a:latin typeface="Dubai Light" panose="020B0303030403030204" pitchFamily="34" charset="-78"/>
                <a:cs typeface="Dubai Light" panose="020B0303030403030204" pitchFamily="34" charset="-78"/>
              </a:rPr>
              <a:t>Manuel </a:t>
            </a:r>
            <a:r>
              <a:rPr lang="en-US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de la carte </a:t>
            </a:r>
            <a:r>
              <a:rPr lang="en-US" sz="16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mère</a:t>
            </a:r>
            <a:r>
              <a:rPr lang="en-US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:</a:t>
            </a:r>
          </a:p>
          <a:p>
            <a:pPr marL="560070" lvl="1" indent="-285750" algn="just">
              <a:lnSpc>
                <a:spcPct val="114000"/>
              </a:lnSpc>
              <a:buFont typeface="+mj-lt"/>
              <a:buAutoNum type="arabicPeriod"/>
            </a:pPr>
            <a:r>
              <a:rPr lang="en-US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Le type (SDRAM, RDRAM, DDR SDRAM, DDR2/3/4/5)</a:t>
            </a:r>
          </a:p>
          <a:p>
            <a:pPr marL="560070" lvl="1" indent="-285750" algn="just">
              <a:lnSpc>
                <a:spcPct val="114000"/>
              </a:lnSpc>
              <a:buFont typeface="+mj-lt"/>
              <a:buAutoNum type="arabicPeriod"/>
            </a:pPr>
            <a:r>
              <a:rPr lang="en-US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Le </a:t>
            </a:r>
            <a:r>
              <a:rPr lang="en-US" sz="14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facteur</a:t>
            </a:r>
            <a:r>
              <a:rPr lang="en-US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 de </a:t>
            </a:r>
            <a:r>
              <a:rPr lang="en-US" sz="14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forme</a:t>
            </a:r>
            <a:r>
              <a:rPr lang="en-US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 (UDIMM, SODIMM, </a:t>
            </a:r>
            <a:r>
              <a:rPr lang="en-US" sz="14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MicroDIMM</a:t>
            </a:r>
            <a:r>
              <a:rPr lang="en-US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)</a:t>
            </a:r>
          </a:p>
          <a:p>
            <a:pPr marL="560070" lvl="1" indent="-285750" algn="just">
              <a:lnSpc>
                <a:spcPct val="114000"/>
              </a:lnSpc>
              <a:buFont typeface="+mj-lt"/>
              <a:buAutoNum type="arabicPeriod"/>
            </a:pPr>
            <a:r>
              <a:rPr lang="en-US" sz="14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Capacité</a:t>
            </a:r>
            <a:r>
              <a:rPr lang="en-US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en-US" sz="14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maximale</a:t>
            </a:r>
            <a:endParaRPr lang="en-US" sz="14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marL="560070" lvl="1" indent="-285750" algn="just">
              <a:lnSpc>
                <a:spcPct val="114000"/>
              </a:lnSpc>
              <a:buFont typeface="+mj-lt"/>
              <a:buAutoNum type="arabicPeriod"/>
            </a:pPr>
            <a:r>
              <a:rPr lang="en-US" sz="14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Fréquences</a:t>
            </a:r>
            <a:r>
              <a:rPr lang="en-US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en-US" sz="14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supportées</a:t>
            </a:r>
            <a:endParaRPr lang="en-US" sz="14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marL="560070" lvl="1" indent="-285750" algn="just">
              <a:lnSpc>
                <a:spcPct val="114000"/>
              </a:lnSpc>
              <a:buFont typeface="+mj-lt"/>
              <a:buAutoNum type="arabicPeriod"/>
            </a:pPr>
            <a:r>
              <a:rPr lang="en-US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Le </a:t>
            </a:r>
            <a:r>
              <a:rPr lang="en-US" sz="14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nombre</a:t>
            </a:r>
            <a:r>
              <a:rPr lang="en-US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 de broches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Préférer l’uniformité des capacités et des </a:t>
            </a:r>
            <a:r>
              <a:rPr lang="fr-CA" sz="1600">
                <a:latin typeface="Dubai Light" panose="020B0303030403030204" pitchFamily="34" charset="-78"/>
                <a:cs typeface="Dubai Light" panose="020B0303030403030204" pitchFamily="34" charset="-78"/>
              </a:rPr>
              <a:t>fréquences.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600">
                <a:latin typeface="Dubai Light" panose="020B0303030403030204" pitchFamily="34" charset="-78"/>
                <a:cs typeface="Dubai Light" panose="020B0303030403030204" pitchFamily="34" charset="-78"/>
              </a:rPr>
              <a:t>Diagnostic : </a:t>
            </a:r>
            <a:r>
              <a:rPr lang="en-US" sz="1600" b="1">
                <a:latin typeface="Dubai Light" panose="020B0303030403030204" pitchFamily="34" charset="-78"/>
                <a:cs typeface="Dubai Light" panose="020B0303030403030204" pitchFamily="34" charset="-78"/>
              </a:rPr>
              <a:t>lenteur prononcée</a:t>
            </a:r>
            <a:r>
              <a:rPr lang="en-US" sz="1600">
                <a:latin typeface="Dubai Light" panose="020B0303030403030204" pitchFamily="34" charset="-78"/>
                <a:cs typeface="Dubai Light" panose="020B0303030403030204" pitchFamily="34" charset="-78"/>
              </a:rPr>
              <a:t> et </a:t>
            </a:r>
            <a:r>
              <a:rPr lang="en-US" sz="1600" b="1">
                <a:latin typeface="Dubai Light" panose="020B0303030403030204" pitchFamily="34" charset="-78"/>
                <a:cs typeface="Dubai Light" panose="020B0303030403030204" pitchFamily="34" charset="-78"/>
              </a:rPr>
              <a:t>accès frequents à la mémoire de masse</a:t>
            </a:r>
            <a:r>
              <a:rPr lang="en-US" sz="1600"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</a:p>
        </p:txBody>
      </p:sp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5" name="Picture 2" descr="What Is RAM/Memory? And How Do I Find Information On My System About It? |  arnoticias.tv">
            <a:extLst>
              <a:ext uri="{FF2B5EF4-FFF2-40B4-BE49-F238E27FC236}">
                <a16:creationId xmlns:a16="http://schemas.microsoft.com/office/drawing/2014/main" id="{07E29250-8BFA-72F5-A5A5-E02C0B6635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64" r="4303" b="3359"/>
          <a:stretch/>
        </p:blipFill>
        <p:spPr bwMode="auto">
          <a:xfrm>
            <a:off x="9213686" y="3069062"/>
            <a:ext cx="2555146" cy="3471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835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MÉMOIRE SECONDAIRE : SSD + HDD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E58D4-6245-F2C5-8CBA-CEED2BBF9BD5}"/>
              </a:ext>
            </a:extLst>
          </p:cNvPr>
          <p:cNvSpPr txBox="1">
            <a:spLocks/>
          </p:cNvSpPr>
          <p:nvPr/>
        </p:nvSpPr>
        <p:spPr>
          <a:xfrm>
            <a:off x="960120" y="2587752"/>
            <a:ext cx="10267200" cy="3593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Mémoire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non volatile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pour les données qui ne sont 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pas en cours d’utilisation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Le « </a:t>
            </a:r>
            <a:r>
              <a:rPr lang="fr-CA" sz="1600" b="1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solid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 state drive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» ou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SSD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est constitué de puces électroniques de type 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flash NAND 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(p. ex. clés USB).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Le « 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hard </a:t>
            </a:r>
            <a:r>
              <a:rPr lang="fr-CA" sz="1600" b="1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disk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 drive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 » ou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HDD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est constitué de disques magnétiques empilés en rotation.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Les deux sont de type RAM, mais le HDD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(100 – 200 Mo/s)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plus lent à cause du déplacement de la tête de lecture et des disques. </a:t>
            </a:r>
            <a:r>
              <a:rPr lang="fr-CA" sz="16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Le SSD est de 5 à 35 fois plus rapide (500 – 7000 Mo/s)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Le SSD est plus </a:t>
            </a:r>
            <a:r>
              <a:rPr lang="fr-CA" sz="16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silencieux</a:t>
            </a: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 puisqu’il n’a pas de composants mobiles.</a:t>
            </a:r>
          </a:p>
        </p:txBody>
      </p:sp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4" name="Picture 4" descr="HDD vs SSD: Exploring the Battle Between Traditional Hard Drives and  Solid-State Drives | Geekboots">
            <a:extLst>
              <a:ext uri="{FF2B5EF4-FFF2-40B4-BE49-F238E27FC236}">
                <a16:creationId xmlns:a16="http://schemas.microsoft.com/office/drawing/2014/main" id="{8A8F1092-D996-5C77-B043-2FE5A79171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7" t="27593" r="17778" b="4634"/>
          <a:stretch/>
        </p:blipFill>
        <p:spPr bwMode="auto">
          <a:xfrm>
            <a:off x="8902186" y="4740186"/>
            <a:ext cx="2596897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8292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MÉMOIRE MORTE ou « ROM 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E58D4-6245-F2C5-8CBA-CEED2BBF9BD5}"/>
              </a:ext>
            </a:extLst>
          </p:cNvPr>
          <p:cNvSpPr txBox="1">
            <a:spLocks/>
          </p:cNvSpPr>
          <p:nvPr/>
        </p:nvSpPr>
        <p:spPr>
          <a:xfrm>
            <a:off x="960120" y="2587752"/>
            <a:ext cx="10267200" cy="3593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Mémoires non volatiles qui peuvent être lues, mais pas réécrites.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600" dirty="0">
                <a:latin typeface="Dubai Light" panose="020B0303030403030204" pitchFamily="34" charset="-78"/>
                <a:cs typeface="Dubai Light" panose="020B0303030403030204" pitchFamily="34" charset="-78"/>
              </a:rPr>
              <a:t>Différents types : 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« Programmable Read-</a:t>
            </a:r>
            <a:r>
              <a:rPr lang="fr-CA" sz="14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Only</a:t>
            </a: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 Memory » ou </a:t>
            </a:r>
            <a:r>
              <a:rPr lang="fr-CA" sz="14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PROM</a:t>
            </a: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 qui se programme une seule fois.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« </a:t>
            </a:r>
            <a:r>
              <a:rPr lang="fr-CA" sz="14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Erasable</a:t>
            </a: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 Programmable Read-</a:t>
            </a:r>
            <a:r>
              <a:rPr lang="fr-CA" sz="14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Only</a:t>
            </a: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 Memory » ou </a:t>
            </a:r>
            <a:r>
              <a:rPr lang="fr-CA" sz="14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EPROM</a:t>
            </a: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 qui se reprogramme en l'exposant à des </a:t>
            </a:r>
            <a:r>
              <a:rPr lang="fr-CA" sz="14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rayons UV</a:t>
            </a: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« </a:t>
            </a:r>
            <a:r>
              <a:rPr lang="fr-CA" sz="14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Electrically</a:t>
            </a: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4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Erasable</a:t>
            </a: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 Programmable Read-</a:t>
            </a:r>
            <a:r>
              <a:rPr lang="fr-CA" sz="14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Only</a:t>
            </a: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 Memory » ou </a:t>
            </a:r>
            <a:r>
              <a:rPr lang="fr-CA" sz="14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EEPROM</a:t>
            </a: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 qui se reprogramme par </a:t>
            </a:r>
            <a:r>
              <a:rPr lang="fr-CA" sz="14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impulsions électriques</a:t>
            </a: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.</a:t>
            </a:r>
          </a:p>
          <a:p>
            <a:pPr marL="342900" indent="-34290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fr-CA" sz="1700" dirty="0">
                <a:latin typeface="Dubai Light" panose="020B0303030403030204" pitchFamily="34" charset="-78"/>
                <a:cs typeface="Dubai Light" panose="020B0303030403030204" pitchFamily="34" charset="-78"/>
              </a:rPr>
              <a:t>Servent à stocker les logiciels suivants :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Le BIOS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Les</a:t>
            </a:r>
            <a:r>
              <a:rPr lang="fr-CA" sz="1400" b="1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4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codes de démarrage</a:t>
            </a:r>
            <a:r>
              <a:rPr lang="fr-CA" sz="1400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ou « bootloader »</a:t>
            </a: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Les </a:t>
            </a:r>
            <a:r>
              <a:rPr lang="fr-CA" sz="1400" b="1" dirty="0">
                <a:solidFill>
                  <a:srgbClr val="FF0000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micrologiciels </a:t>
            </a: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ou « </a:t>
            </a:r>
            <a:r>
              <a:rPr lang="fr-CA" sz="1400" dirty="0" err="1">
                <a:latin typeface="Dubai Light" panose="020B0303030403030204" pitchFamily="34" charset="-78"/>
                <a:cs typeface="Dubai Light" panose="020B0303030403030204" pitchFamily="34" charset="-78"/>
              </a:rPr>
              <a:t>firmwares</a:t>
            </a:r>
            <a:r>
              <a:rPr lang="fr-CA" sz="1400" dirty="0">
                <a:latin typeface="Dubai Light" panose="020B0303030403030204" pitchFamily="34" charset="-78"/>
                <a:cs typeface="Dubai Light" panose="020B0303030403030204" pitchFamily="34" charset="-78"/>
              </a:rPr>
              <a:t> »</a:t>
            </a:r>
          </a:p>
          <a:p>
            <a:pPr lvl="1" indent="0" algn="just">
              <a:lnSpc>
                <a:spcPct val="114000"/>
              </a:lnSpc>
              <a:buNone/>
            </a:pPr>
            <a:endParaRPr lang="fr-CA" sz="14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marL="617220" lvl="1" indent="-342900" algn="just">
              <a:lnSpc>
                <a:spcPct val="114000"/>
              </a:lnSpc>
              <a:buFont typeface="+mj-lt"/>
              <a:buAutoNum type="arabicPeriod"/>
            </a:pPr>
            <a:endParaRPr lang="fr-CA" sz="14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  <a:p>
            <a:pPr lvl="1" indent="0" algn="just">
              <a:lnSpc>
                <a:spcPct val="114000"/>
              </a:lnSpc>
              <a:buNone/>
            </a:pPr>
            <a:endParaRPr lang="fr-CA" sz="140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9" name="Picture 6" descr="The LY62256PL RAM IC">
            <a:extLst>
              <a:ext uri="{FF2B5EF4-FFF2-40B4-BE49-F238E27FC236}">
                <a16:creationId xmlns:a16="http://schemas.microsoft.com/office/drawing/2014/main" id="{D3FA12DE-E0A9-3813-5B0A-3D00F85FD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9083" y="4740186"/>
            <a:ext cx="24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6637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77C8-DBAC-4AF3-7D89-7DA7D2EF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500" dirty="0"/>
              <a:t>architectures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E58D4-6245-F2C5-8CBA-CEED2BBF9B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0120" y="2587752"/>
                <a:ext cx="5831205" cy="3593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1000"/>
                  </a:lnSpc>
                  <a:spcBef>
                    <a:spcPts val="700"/>
                  </a:spcBef>
                  <a:spcAft>
                    <a:spcPts val="700"/>
                  </a:spcAft>
                  <a:buFont typeface="Arial" panose="020B0604020202020204" pitchFamily="34" charset="0"/>
                  <a:buNone/>
                  <a:defRPr sz="260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74320" indent="-274320" algn="l" defTabSz="914400" rtl="0" eaLnBrk="1" latinLnBrk="0" hangingPunct="1">
                  <a:lnSpc>
                    <a:spcPct val="101000"/>
                  </a:lnSpc>
                  <a:spcBef>
                    <a:spcPts val="400"/>
                  </a:spcBef>
                  <a:spcAft>
                    <a:spcPts val="400"/>
                  </a:spcAft>
                  <a:buClrTx/>
                  <a:buFont typeface="Wingdings" panose="05000000000000000000" pitchFamily="2" charset="2"/>
                  <a:buChar char="§"/>
                  <a:defRPr sz="230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274320" indent="0" algn="l" defTabSz="914400" rtl="0" eaLnBrk="1" latinLnBrk="0" hangingPunct="1">
                  <a:lnSpc>
                    <a:spcPct val="101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800" b="1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274320" algn="l" defTabSz="914400" rtl="0" eaLnBrk="1" latinLnBrk="0" hangingPunct="1">
                  <a:lnSpc>
                    <a:spcPct val="101000"/>
                  </a:lnSpc>
                  <a:spcBef>
                    <a:spcPts val="400"/>
                  </a:spcBef>
                  <a:spcAft>
                    <a:spcPts val="400"/>
                  </a:spcAft>
                  <a:buClrTx/>
                  <a:buFont typeface="Wingdings" panose="05000000000000000000" pitchFamily="2" charset="2"/>
                  <a:buChar char="§"/>
                  <a:defRPr sz="1800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94360" indent="0" algn="l" defTabSz="914400" rtl="0" eaLnBrk="1" latinLnBrk="0" hangingPunct="1">
                  <a:lnSpc>
                    <a:spcPct val="101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800" b="1" kern="1200" spc="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 algn="just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fr-CA" sz="1600" b="1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Mémoires distinctes pour les programmes/instructions et les données.</a:t>
                </a:r>
              </a:p>
              <a:p>
                <a:pPr marL="285750" indent="-285750" algn="just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Architecture </a:t>
                </a:r>
                <a:r>
                  <a:rPr lang="fr-CA" sz="1600" b="1" dirty="0">
                    <a:solidFill>
                      <a:srgbClr val="FF0000"/>
                    </a:solidFill>
                    <a:latin typeface="Dubai Light" panose="020B0303030403030204" pitchFamily="34" charset="-78"/>
                    <a:cs typeface="Dubai Light" panose="020B0303030403030204" pitchFamily="34" charset="-78"/>
                  </a:rPr>
                  <a:t>Harvard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: vitesse </a:t>
                </a:r>
                <a14:m>
                  <m:oMath xmlns:m="http://schemas.openxmlformats.org/officeDocument/2006/math">
                    <m:r>
                      <a:rPr lang="fr-CA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Dubai Light" panose="020B0303030403030204" pitchFamily="34" charset="-78"/>
                      </a:rPr>
                      <m:t>↑</m:t>
                    </m:r>
                  </m:oMath>
                </a14:m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complexité </a:t>
                </a:r>
                <a14:m>
                  <m:oMath xmlns:m="http://schemas.openxmlformats.org/officeDocument/2006/math">
                    <m:r>
                      <a:rPr lang="fr-CA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Dubai Light" panose="020B0303030403030204" pitchFamily="34" charset="-78"/>
                      </a:rPr>
                      <m:t>↑ </m:t>
                    </m:r>
                  </m:oMath>
                </a14:m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coûts </a:t>
                </a:r>
                <a14:m>
                  <m:oMath xmlns:m="http://schemas.openxmlformats.org/officeDocument/2006/math">
                    <m:r>
                      <a:rPr lang="fr-CA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Dubai Light" panose="020B0303030403030204" pitchFamily="34" charset="-78"/>
                      </a:rPr>
                      <m:t>↑</m:t>
                    </m:r>
                  </m:oMath>
                </a14:m>
                <a:endParaRPr lang="en-US" sz="1600" dirty="0">
                  <a:latin typeface="Dubai Light" panose="020B0303030403030204" pitchFamily="34" charset="-78"/>
                  <a:ea typeface="Cambria Math" panose="02040503050406030204" pitchFamily="18" charset="0"/>
                  <a:cs typeface="Dubai Light" panose="020B0303030403030204" pitchFamily="34" charset="-78"/>
                </a:endParaRPr>
              </a:p>
              <a:p>
                <a:pPr marL="285750" indent="-285750" algn="just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Architecture </a:t>
                </a:r>
                <a:r>
                  <a:rPr lang="fr-CA" sz="1600" b="1" dirty="0">
                    <a:solidFill>
                      <a:srgbClr val="FF0000"/>
                    </a:solidFill>
                    <a:latin typeface="Dubai Light" panose="020B0303030403030204" pitchFamily="34" charset="-78"/>
                    <a:cs typeface="Dubai Light" panose="020B0303030403030204" pitchFamily="34" charset="-78"/>
                  </a:rPr>
                  <a:t>von Neumann</a:t>
                </a:r>
                <a:r>
                  <a:rPr lang="fr-CA" sz="1600" b="1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: vitesse </a:t>
                </a:r>
                <a14:m>
                  <m:oMath xmlns:m="http://schemas.openxmlformats.org/officeDocument/2006/math">
                    <m:r>
                      <a:rPr lang="fr-CA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Dubai Light" panose="020B0303030403030204" pitchFamily="34" charset="-78"/>
                      </a:rPr>
                      <m:t>↓</m:t>
                    </m:r>
                  </m:oMath>
                </a14:m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complexité </a:t>
                </a:r>
                <a14:m>
                  <m:oMath xmlns:m="http://schemas.openxmlformats.org/officeDocument/2006/math">
                    <m:r>
                      <a:rPr lang="fr-CA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Dubai Light" panose="020B0303030403030204" pitchFamily="34" charset="-78"/>
                      </a:rPr>
                      <m:t>↓ </m:t>
                    </m:r>
                  </m:oMath>
                </a14:m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coûts </a:t>
                </a:r>
                <a14:m>
                  <m:oMath xmlns:m="http://schemas.openxmlformats.org/officeDocument/2006/math">
                    <m:r>
                      <a:rPr lang="fr-CA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Dubai Light" panose="020B0303030403030204" pitchFamily="34" charset="-78"/>
                      </a:rPr>
                      <m:t>↓</m:t>
                    </m:r>
                  </m:oMath>
                </a14:m>
                <a:endParaRPr lang="en-US" sz="1600" dirty="0">
                  <a:latin typeface="Dubai Light" panose="020B0303030403030204" pitchFamily="34" charset="-78"/>
                  <a:ea typeface="Cambria Math" panose="02040503050406030204" pitchFamily="18" charset="0"/>
                  <a:cs typeface="Dubai Light" panose="020B0303030403030204" pitchFamily="34" charset="-78"/>
                </a:endParaRPr>
              </a:p>
              <a:p>
                <a:pPr marL="285750" indent="-285750" algn="just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L’architecture de von Neumann est </a:t>
                </a:r>
                <a:r>
                  <a:rPr lang="fr-CA" sz="1600" b="1" dirty="0">
                    <a:solidFill>
                      <a:srgbClr val="FF0000"/>
                    </a:solidFill>
                    <a:latin typeface="Dubai Light" panose="020B0303030403030204" pitchFamily="34" charset="-78"/>
                    <a:cs typeface="Dubai Light" panose="020B0303030403030204" pitchFamily="34" charset="-78"/>
                  </a:rPr>
                  <a:t>plus répandue 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(p. ex. </a:t>
                </a:r>
                <a:r>
                  <a:rPr lang="fr-CA" sz="1600" b="1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portables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, </a:t>
                </a:r>
                <a:r>
                  <a:rPr lang="fr-CA" sz="1600" b="1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tablettes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et </a:t>
                </a:r>
                <a:r>
                  <a:rPr lang="fr-CA" sz="1600" b="1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ordinateurs personnels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).</a:t>
                </a:r>
              </a:p>
              <a:p>
                <a:pPr marL="285750" indent="-285750" algn="just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L’architecture de Harvard est </a:t>
                </a:r>
                <a:r>
                  <a:rPr lang="fr-CA" sz="1600" b="1" dirty="0">
                    <a:solidFill>
                      <a:srgbClr val="FF0000"/>
                    </a:solidFill>
                    <a:latin typeface="Dubai Light" panose="020B0303030403030204" pitchFamily="34" charset="-78"/>
                    <a:cs typeface="Dubai Light" panose="020B0303030403030204" pitchFamily="34" charset="-78"/>
                  </a:rPr>
                  <a:t>limitée aux applications qui nécessitent des performances accrues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 (p. ex. </a:t>
                </a:r>
                <a:r>
                  <a:rPr lang="fr-CA" sz="1600" b="1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systèmes embarqués</a:t>
                </a:r>
                <a:r>
                  <a:rPr lang="fr-CA" sz="1600" dirty="0">
                    <a:latin typeface="Dubai Light" panose="020B0303030403030204" pitchFamily="34" charset="-78"/>
                    <a:cs typeface="Dubai Light" panose="020B0303030403030204" pitchFamily="34" charset="-78"/>
                  </a:rPr>
                  <a:t>, processeurs de signaux numériques et calculateurs scientifiques de haute performance).</a:t>
                </a:r>
              </a:p>
              <a:p>
                <a:pPr marL="285750" indent="-285750" algn="just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endParaRPr lang="fr-CA" sz="1600" dirty="0">
                  <a:latin typeface="Dubai Light" panose="020B0303030403030204" pitchFamily="34" charset="-78"/>
                  <a:cs typeface="Dubai Light" panose="020B0303030403030204" pitchFamily="34" charset="-78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E58D4-6245-F2C5-8CBA-CEED2BBF9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2587752"/>
                <a:ext cx="5831205" cy="3593592"/>
              </a:xfrm>
              <a:prstGeom prst="rect">
                <a:avLst/>
              </a:prstGeom>
              <a:blipFill>
                <a:blip r:embed="rId3"/>
                <a:stretch>
                  <a:fillRect l="-418" t="-170" r="-628" b="-1698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Computer bus: what is it, what is it for and how are they classified in  computer science? - Computing Mania">
            <a:extLst>
              <a:ext uri="{FF2B5EF4-FFF2-40B4-BE49-F238E27FC236}">
                <a16:creationId xmlns:a16="http://schemas.microsoft.com/office/drawing/2014/main" id="{08B4FAF7-6709-17BE-A319-A42A98CA97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E979E86-1294-0EBD-0714-49788C3E86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0151" y="2940186"/>
            <a:ext cx="4368932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14179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AnalogousFromLightSeedRightStep">
      <a:dk1>
        <a:srgbClr val="000000"/>
      </a:dk1>
      <a:lt1>
        <a:srgbClr val="FFFFFF"/>
      </a:lt1>
      <a:dk2>
        <a:srgbClr val="41243A"/>
      </a:dk2>
      <a:lt2>
        <a:srgbClr val="E2E8E3"/>
      </a:lt2>
      <a:accent1>
        <a:srgbClr val="CA92BD"/>
      </a:accent1>
      <a:accent2>
        <a:srgbClr val="BF7A91"/>
      </a:accent2>
      <a:accent3>
        <a:srgbClr val="CA9692"/>
      </a:accent3>
      <a:accent4>
        <a:srgbClr val="BF9C7A"/>
      </a:accent4>
      <a:accent5>
        <a:srgbClr val="A9A57A"/>
      </a:accent5>
      <a:accent6>
        <a:srgbClr val="97AB6E"/>
      </a:accent6>
      <a:hlink>
        <a:srgbClr val="568E64"/>
      </a:hlink>
      <a:folHlink>
        <a:srgbClr val="7F7F7F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2428</TotalTime>
  <Words>2481</Words>
  <Application>Microsoft Office PowerPoint</Application>
  <PresentationFormat>Grand écran</PresentationFormat>
  <Paragraphs>338</Paragraphs>
  <Slides>28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8" baseType="lpstr">
      <vt:lpstr>Arial</vt:lpstr>
      <vt:lpstr>Calibri</vt:lpstr>
      <vt:lpstr>Cambria Math</vt:lpstr>
      <vt:lpstr>Consolas</vt:lpstr>
      <vt:lpstr>Dubai</vt:lpstr>
      <vt:lpstr>Dubai Light</vt:lpstr>
      <vt:lpstr>Franklin Gothic Demi Cond</vt:lpstr>
      <vt:lpstr>Franklin Gothic Medium</vt:lpstr>
      <vt:lpstr>Wingdings</vt:lpstr>
      <vt:lpstr>JuxtaposeVTI</vt:lpstr>
      <vt:lpstr>TCH017 – Cours 1</vt:lpstr>
      <vt:lpstr>MOTIVATION</vt:lpstr>
      <vt:lpstr>ACTIVITÉ : QU’EST-CE QU’UN ORDINATEUR?</vt:lpstr>
      <vt:lpstr>Retour SUR L’ACTIVITÉ</vt:lpstr>
      <vt:lpstr>DÉFINITION EN MOTS</vt:lpstr>
      <vt:lpstr>DÉFINITION PAR CRITÈRES</vt:lpstr>
      <vt:lpstr>SCHÉMA (UC + UAL)</vt:lpstr>
      <vt:lpstr>SCHÉMA (UC + UAL → UCT)</vt:lpstr>
      <vt:lpstr>SYSTème d'exploitation</vt:lpstr>
      <vt:lpstr>CARTE MÈRE ou « motherboard »</vt:lpstr>
      <vt:lpstr>CARTE MÈRE ou « motherboard »</vt:lpstr>
      <vt:lpstr>Vous avez dit … bus?</vt:lpstr>
      <vt:lpstr>CARACTÉRISTIQUES D’UN BUS</vt:lpstr>
      <vt:lpstr>EXEMPLE DE CALCUL</vt:lpstr>
      <vt:lpstr>EXERCICE 1</vt:lpstr>
      <vt:lpstr>QU’EST-CE QU’UN BIT?</vt:lpstr>
      <vt:lpstr>ORDRES DE GRANDEUR</vt:lpstr>
      <vt:lpstr>EXERCICE 3</vt:lpstr>
      <vt:lpstr>MÉMOIRE INFORMATIQUE</vt:lpstr>
      <vt:lpstr>MÉMOIRE ÉLECTRONIQUE</vt:lpstr>
      <vt:lpstr>HIÉRARCHIE DES MÉMOIRES</vt:lpstr>
      <vt:lpstr>REGISTRES</vt:lpstr>
      <vt:lpstr>MÉMOIRE CACHE</vt:lpstr>
      <vt:lpstr>MÉMOIRE PRINCIPALE : MÉMOIRE VIVE</vt:lpstr>
      <vt:lpstr>CHOISIR/AJOUTER de la ram</vt:lpstr>
      <vt:lpstr>MÉMOIRE SECONDAIRE : SSD + HDD</vt:lpstr>
      <vt:lpstr>MÉMOIRE MORTE ou « ROM »</vt:lpstr>
      <vt:lpstr>architectures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TCH017 – Cours 1</dc:title>
  <dc:creator>Iannick Gagnon</dc:creator>
  <cp:lastModifiedBy>Olivier Duhaime-Plante</cp:lastModifiedBy>
  <cp:revision>25</cp:revision>
  <dcterms:created xsi:type="dcterms:W3CDTF">2023-07-12T17:25:47Z</dcterms:created>
  <dcterms:modified xsi:type="dcterms:W3CDTF">2026-09-02T13:41:55Z</dcterms:modified>
</cp:coreProperties>
</file>